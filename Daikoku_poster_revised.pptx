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sldIdLst>
    <p:sldId id="257" r:id="rId2"/>
  </p:sldIdLst>
  <p:sldSz cx="32759650" cy="428402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88"/>
    <p:restoredTop sz="94532"/>
  </p:normalViewPr>
  <p:slideViewPr>
    <p:cSldViewPr snapToGrid="0">
      <p:cViewPr>
        <p:scale>
          <a:sx n="49" d="100"/>
          <a:sy n="49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rita, Kyosuke (Chief Data &amp; AI Office)" userId="119e9f40-878d-4f87-860c-46ce3038b690" providerId="ADAL" clId="{07C827D1-702F-594D-B946-51D457815CCC}"/>
    <pc:docChg chg="undo custSel modSld">
      <pc:chgData name="Morita, Kyosuke (Chief Data &amp; AI Office)" userId="119e9f40-878d-4f87-860c-46ce3038b690" providerId="ADAL" clId="{07C827D1-702F-594D-B946-51D457815CCC}" dt="2026-10-13T21:27:52.828" v="118" actId="1076"/>
      <pc:docMkLst>
        <pc:docMk/>
      </pc:docMkLst>
      <pc:sldChg chg="addSp delSp modSp mod">
        <pc:chgData name="Morita, Kyosuke (Chief Data &amp; AI Office)" userId="119e9f40-878d-4f87-860c-46ce3038b690" providerId="ADAL" clId="{07C827D1-702F-594D-B946-51D457815CCC}" dt="2026-10-13T21:27:52.828" v="118" actId="1076"/>
        <pc:sldMkLst>
          <pc:docMk/>
          <pc:sldMk cId="1187388567" sldId="257"/>
        </pc:sldMkLst>
        <pc:spChg chg="mod">
          <ac:chgData name="Morita, Kyosuke (Chief Data &amp; AI Office)" userId="119e9f40-878d-4f87-860c-46ce3038b690" providerId="ADAL" clId="{07C827D1-702F-594D-B946-51D457815CCC}" dt="2026-10-13T21:11:02.540" v="113" actId="1076"/>
          <ac:spMkLst>
            <pc:docMk/>
            <pc:sldMk cId="1187388567" sldId="257"/>
            <ac:spMk id="2" creationId="{80D91530-1EC2-2E5F-2CEE-0202F2D8B007}"/>
          </ac:spMkLst>
        </pc:spChg>
        <pc:spChg chg="add mod">
          <ac:chgData name="Morita, Kyosuke (Chief Data &amp; AI Office)" userId="119e9f40-878d-4f87-860c-46ce3038b690" providerId="ADAL" clId="{07C827D1-702F-594D-B946-51D457815CCC}" dt="2026-10-08T10:16:49.721" v="38" actId="1076"/>
          <ac:spMkLst>
            <pc:docMk/>
            <pc:sldMk cId="1187388567" sldId="257"/>
            <ac:spMk id="4" creationId="{63945824-0FA1-6B54-6C23-70E6452E3065}"/>
          </ac:spMkLst>
        </pc:spChg>
        <pc:spChg chg="mod">
          <ac:chgData name="Morita, Kyosuke (Chief Data &amp; AI Office)" userId="119e9f40-878d-4f87-860c-46ce3038b690" providerId="ADAL" clId="{07C827D1-702F-594D-B946-51D457815CCC}" dt="2026-10-13T21:27:52.828" v="118" actId="1076"/>
          <ac:spMkLst>
            <pc:docMk/>
            <pc:sldMk cId="1187388567" sldId="257"/>
            <ac:spMk id="7" creationId="{00000000-0000-0000-0000-000000000000}"/>
          </ac:spMkLst>
        </pc:spChg>
        <pc:spChg chg="mod">
          <ac:chgData name="Morita, Kyosuke (Chief Data &amp; AI Office)" userId="119e9f40-878d-4f87-860c-46ce3038b690" providerId="ADAL" clId="{07C827D1-702F-594D-B946-51D457815CCC}" dt="2026-10-13T21:27:16.431" v="114" actId="1076"/>
          <ac:spMkLst>
            <pc:docMk/>
            <pc:sldMk cId="1187388567" sldId="257"/>
            <ac:spMk id="9" creationId="{00000000-0000-0000-0000-000000000000}"/>
          </ac:spMkLst>
        </pc:spChg>
        <pc:spChg chg="add del">
          <ac:chgData name="Morita, Kyosuke (Chief Data &amp; AI Office)" userId="119e9f40-878d-4f87-860c-46ce3038b690" providerId="ADAL" clId="{07C827D1-702F-594D-B946-51D457815CCC}" dt="2026-10-13T21:08:42.315" v="95" actId="478"/>
          <ac:spMkLst>
            <pc:docMk/>
            <pc:sldMk cId="1187388567" sldId="257"/>
            <ac:spMk id="14" creationId="{00000000-0000-0000-0000-000000000000}"/>
          </ac:spMkLst>
        </pc:spChg>
        <pc:spChg chg="mod">
          <ac:chgData name="Morita, Kyosuke (Chief Data &amp; AI Office)" userId="119e9f40-878d-4f87-860c-46ce3038b690" providerId="ADAL" clId="{07C827D1-702F-594D-B946-51D457815CCC}" dt="2026-10-08T10:17:07.188" v="41" actId="1076"/>
          <ac:spMkLst>
            <pc:docMk/>
            <pc:sldMk cId="1187388567" sldId="257"/>
            <ac:spMk id="15" creationId="{00000000-0000-0000-0000-000000000000}"/>
          </ac:spMkLst>
        </pc:spChg>
        <pc:spChg chg="del mod">
          <ac:chgData name="Morita, Kyosuke (Chief Data &amp; AI Office)" userId="119e9f40-878d-4f87-860c-46ce3038b690" providerId="ADAL" clId="{07C827D1-702F-594D-B946-51D457815CCC}" dt="2026-10-13T21:08:44.102" v="96" actId="478"/>
          <ac:spMkLst>
            <pc:docMk/>
            <pc:sldMk cId="1187388567" sldId="257"/>
            <ac:spMk id="20" creationId="{00000000-0000-0000-0000-000000000000}"/>
          </ac:spMkLst>
        </pc:spChg>
        <pc:spChg chg="mod">
          <ac:chgData name="Morita, Kyosuke (Chief Data &amp; AI Office)" userId="119e9f40-878d-4f87-860c-46ce3038b690" providerId="ADAL" clId="{07C827D1-702F-594D-B946-51D457815CCC}" dt="2026-10-13T21:07:59.522" v="86" actId="1076"/>
          <ac:spMkLst>
            <pc:docMk/>
            <pc:sldMk cId="1187388567" sldId="257"/>
            <ac:spMk id="21" creationId="{00000000-0000-0000-0000-000000000000}"/>
          </ac:spMkLst>
        </pc:spChg>
        <pc:spChg chg="del mod">
          <ac:chgData name="Morita, Kyosuke (Chief Data &amp; AI Office)" userId="119e9f40-878d-4f87-860c-46ce3038b690" providerId="ADAL" clId="{07C827D1-702F-594D-B946-51D457815CCC}" dt="2026-10-13T21:08:46.628" v="97" actId="478"/>
          <ac:spMkLst>
            <pc:docMk/>
            <pc:sldMk cId="1187388567" sldId="257"/>
            <ac:spMk id="22" creationId="{00000000-0000-0000-0000-000000000000}"/>
          </ac:spMkLst>
        </pc:spChg>
        <pc:spChg chg="mod">
          <ac:chgData name="Morita, Kyosuke (Chief Data &amp; AI Office)" userId="119e9f40-878d-4f87-860c-46ce3038b690" providerId="ADAL" clId="{07C827D1-702F-594D-B946-51D457815CCC}" dt="2026-10-08T10:17:30.899" v="43" actId="1036"/>
          <ac:spMkLst>
            <pc:docMk/>
            <pc:sldMk cId="1187388567" sldId="257"/>
            <ac:spMk id="43" creationId="{00000000-0000-0000-0000-000000000000}"/>
          </ac:spMkLst>
        </pc:spChg>
        <pc:spChg chg="mod">
          <ac:chgData name="Morita, Kyosuke (Chief Data &amp; AI Office)" userId="119e9f40-878d-4f87-860c-46ce3038b690" providerId="ADAL" clId="{07C827D1-702F-594D-B946-51D457815CCC}" dt="2026-10-08T10:17:36.337" v="45" actId="1036"/>
          <ac:spMkLst>
            <pc:docMk/>
            <pc:sldMk cId="1187388567" sldId="257"/>
            <ac:spMk id="44" creationId="{00000000-0000-0000-0000-000000000000}"/>
          </ac:spMkLst>
        </pc:spChg>
        <pc:picChg chg="mod">
          <ac:chgData name="Morita, Kyosuke (Chief Data &amp; AI Office)" userId="119e9f40-878d-4f87-860c-46ce3038b690" providerId="ADAL" clId="{07C827D1-702F-594D-B946-51D457815CCC}" dt="2026-10-13T21:10:30.831" v="110" actId="1076"/>
          <ac:picMkLst>
            <pc:docMk/>
            <pc:sldMk cId="1187388567" sldId="257"/>
            <ac:picMk id="3" creationId="{B565DF27-B061-C6E8-453F-5EF030E2ECA0}"/>
          </ac:picMkLst>
        </pc:picChg>
        <pc:picChg chg="mod">
          <ac:chgData name="Morita, Kyosuke (Chief Data &amp; AI Office)" userId="119e9f40-878d-4f87-860c-46ce3038b690" providerId="ADAL" clId="{07C827D1-702F-594D-B946-51D457815CCC}" dt="2026-10-13T21:10:39.637" v="111" actId="1076"/>
          <ac:picMkLst>
            <pc:docMk/>
            <pc:sldMk cId="1187388567" sldId="257"/>
            <ac:picMk id="5" creationId="{C7F98715-987C-449A-F609-9A000D507914}"/>
          </ac:picMkLst>
        </pc:picChg>
        <pc:picChg chg="add mod">
          <ac:chgData name="Morita, Kyosuke (Chief Data &amp; AI Office)" userId="119e9f40-878d-4f87-860c-46ce3038b690" providerId="ADAL" clId="{07C827D1-702F-594D-B946-51D457815CCC}" dt="2026-10-13T21:09:05.559" v="101" actId="14100"/>
          <ac:picMkLst>
            <pc:docMk/>
            <pc:sldMk cId="1187388567" sldId="257"/>
            <ac:picMk id="19" creationId="{19FF6691-D727-A6E5-B426-1686244BB269}"/>
          </ac:picMkLst>
        </pc:picChg>
        <pc:picChg chg="del">
          <ac:chgData name="Morita, Kyosuke (Chief Data &amp; AI Office)" userId="119e9f40-878d-4f87-860c-46ce3038b690" providerId="ADAL" clId="{07C827D1-702F-594D-B946-51D457815CCC}" dt="2026-10-13T21:04:33.926" v="47" actId="478"/>
          <ac:picMkLst>
            <pc:docMk/>
            <pc:sldMk cId="1187388567" sldId="257"/>
            <ac:picMk id="170" creationId="{FEAEF5AC-D272-31EA-27D8-462F737175A5}"/>
          </ac:picMkLst>
        </pc:picChg>
        <pc:picChg chg="del">
          <ac:chgData name="Morita, Kyosuke (Chief Data &amp; AI Office)" userId="119e9f40-878d-4f87-860c-46ce3038b690" providerId="ADAL" clId="{07C827D1-702F-594D-B946-51D457815CCC}" dt="2026-10-13T21:04:32.656" v="46" actId="478"/>
          <ac:picMkLst>
            <pc:docMk/>
            <pc:sldMk cId="1187388567" sldId="257"/>
            <ac:picMk id="172" creationId="{32C22A82-9793-2AF2-9F37-81DE032308E4}"/>
          </ac:picMkLst>
        </pc:picChg>
        <pc:picChg chg="add mod">
          <ac:chgData name="Morita, Kyosuke (Chief Data &amp; AI Office)" userId="119e9f40-878d-4f87-860c-46ce3038b690" providerId="ADAL" clId="{07C827D1-702F-594D-B946-51D457815CCC}" dt="2026-10-13T21:09:00.796" v="100" actId="14100"/>
          <ac:picMkLst>
            <pc:docMk/>
            <pc:sldMk cId="1187388567" sldId="257"/>
            <ac:picMk id="173" creationId="{4B12B9E7-9128-70E2-BB5D-668F7EDE1107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 − q</c:v>
                </c:pt>
              </c:strCache>
            </c:strRef>
          </c:tx>
          <c:invertIfNegative val="0"/>
          <c:dPt>
            <c:idx val="0"/>
            <c:invertIfNegative val="1"/>
            <c:bubble3D val="0"/>
            <c:spPr>
              <a:solidFill>
                <a:srgbClr val="C1541F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D36F-F241-A760-C3B667AEB62A}"/>
              </c:ext>
            </c:extLst>
          </c:dPt>
          <c:dPt>
            <c:idx val="1"/>
            <c:invertIfNegative val="1"/>
            <c:bubble3D val="0"/>
            <c:spPr>
              <a:solidFill>
                <a:srgbClr val="C1541F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D36F-F241-A760-C3B667AEB62A}"/>
              </c:ext>
            </c:extLst>
          </c:dPt>
          <c:dPt>
            <c:idx val="2"/>
            <c:invertIfNegative val="1"/>
            <c:bubble3D val="0"/>
            <c:spPr>
              <a:solidFill>
                <a:srgbClr val="7EA89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D36F-F241-A760-C3B667AEB62A}"/>
              </c:ext>
            </c:extLst>
          </c:dPt>
          <c:dPt>
            <c:idx val="3"/>
            <c:invertIfNegative val="1"/>
            <c:bubble3D val="0"/>
            <c:spPr>
              <a:solidFill>
                <a:srgbClr val="7EA89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7-D36F-F241-A760-C3B667AEB62A}"/>
              </c:ext>
            </c:extLst>
          </c:dPt>
          <c:dPt>
            <c:idx val="4"/>
            <c:invertIfNegative val="1"/>
            <c:bubble3D val="0"/>
            <c:spPr>
              <a:solidFill>
                <a:srgbClr val="7EA89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9-D36F-F241-A760-C3B667AEB62A}"/>
              </c:ext>
            </c:extLst>
          </c:dPt>
          <c:dLbls>
            <c:numFmt formatCode="&quot;+&quot;0;&quot;−&quot;0;&quot;0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24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+2</c:v>
                </c:pt>
                <c:pt idx="1">
                  <c:v>+1</c:v>
                </c:pt>
                <c:pt idx="2">
                  <c:v>0</c:v>
                </c:pt>
                <c:pt idx="3">
                  <c:v>−1</c:v>
                </c:pt>
                <c:pt idx="4">
                  <c:v>−2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-1</c:v>
                </c:pt>
                <c:pt idx="3">
                  <c:v>-2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D36F-F241-A760-C3B667AEB62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25400">
            <a:solidFill>
              <a:srgbClr val="102820"/>
            </a:solidFill>
          </a:ln>
        </c:spPr>
        <c:txPr>
          <a:bodyPr/>
          <a:lstStyle/>
          <a:p>
            <a:pPr>
              <a:defRPr sz="2400" b="1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3"/>
          <c:min val="-3"/>
        </c:scaling>
        <c:delete val="0"/>
        <c:axPos val="l"/>
        <c:majorGridlines>
          <c:spPr>
            <a:ln w="12700">
              <a:solidFill>
                <a:srgbClr val="DCE8E2"/>
              </a:solidFill>
            </a:ln>
          </c:spPr>
        </c:majorGridlines>
        <c:numFmt formatCode="&quot;+&quot;0;&quot;−&quot;0;&quot;0&quot;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2000"/>
            </a:pPr>
            <a:endParaRPr lang="en-US"/>
          </a:p>
        </c:txPr>
        <c:crossAx val="-2068027336"/>
        <c:crosses val="autoZero"/>
        <c:crossBetween val="between"/>
        <c:majorUnit val="1"/>
      </c:valAx>
    </c:plotArea>
    <c:plotVisOnly val="1"/>
    <c:dispBlanksAs val="gap"/>
    <c:showDLblsOverMax val="1"/>
  </c:chart>
  <c:txPr>
    <a:bodyPr/>
    <a:lstStyle/>
    <a:p>
      <a:pPr>
        <a:defRPr sz="2200">
          <a:solidFill>
            <a:srgbClr val="102820"/>
          </a:solidFill>
          <a:latin typeface="GT Ultra Median Lloyds Regular"/>
        </a:defRPr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01297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B5891B-5A13-8B44-9BFF-0F168430A7D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9727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56974" y="7011132"/>
            <a:ext cx="27845703" cy="14914762"/>
          </a:xfrm>
        </p:spPr>
        <p:txBody>
          <a:bodyPr anchor="b"/>
          <a:lstStyle>
            <a:lvl1pPr algn="ctr">
              <a:defRPr sz="21496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94956" y="22501064"/>
            <a:ext cx="24569738" cy="10343147"/>
          </a:xfrm>
        </p:spPr>
        <p:txBody>
          <a:bodyPr/>
          <a:lstStyle>
            <a:lvl1pPr marL="0" indent="0" algn="ctr">
              <a:buNone/>
              <a:defRPr sz="8598"/>
            </a:lvl1pPr>
            <a:lvl2pPr marL="1637965" indent="0" algn="ctr">
              <a:buNone/>
              <a:defRPr sz="7165"/>
            </a:lvl2pPr>
            <a:lvl3pPr marL="3275929" indent="0" algn="ctr">
              <a:buNone/>
              <a:defRPr sz="6449"/>
            </a:lvl3pPr>
            <a:lvl4pPr marL="4913894" indent="0" algn="ctr">
              <a:buNone/>
              <a:defRPr sz="5732"/>
            </a:lvl4pPr>
            <a:lvl5pPr marL="6551859" indent="0" algn="ctr">
              <a:buNone/>
              <a:defRPr sz="5732"/>
            </a:lvl5pPr>
            <a:lvl6pPr marL="8189824" indent="0" algn="ctr">
              <a:buNone/>
              <a:defRPr sz="5732"/>
            </a:lvl6pPr>
            <a:lvl7pPr marL="9827788" indent="0" algn="ctr">
              <a:buNone/>
              <a:defRPr sz="5732"/>
            </a:lvl7pPr>
            <a:lvl8pPr marL="11465753" indent="0" algn="ctr">
              <a:buNone/>
              <a:defRPr sz="5732"/>
            </a:lvl8pPr>
            <a:lvl9pPr marL="13103718" indent="0" algn="ctr">
              <a:buNone/>
              <a:defRPr sz="5732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C18F9-AF19-1249-B878-15A5F238A3F5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66669-144A-3B43-A0F0-CC848BFB4A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9689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C18F9-AF19-1249-B878-15A5F238A3F5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66669-144A-3B43-A0F0-CC848BFB4A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2045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5165" y="10680331"/>
            <a:ext cx="28255198" cy="17820361"/>
          </a:xfrm>
        </p:spPr>
        <p:txBody>
          <a:bodyPr anchor="b"/>
          <a:lstStyle>
            <a:lvl1pPr>
              <a:defRPr sz="21496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5165" y="28669280"/>
            <a:ext cx="28255198" cy="9371307"/>
          </a:xfrm>
        </p:spPr>
        <p:txBody>
          <a:bodyPr/>
          <a:lstStyle>
            <a:lvl1pPr marL="0" indent="0">
              <a:buNone/>
              <a:defRPr sz="8598">
                <a:solidFill>
                  <a:schemeClr val="tx1">
                    <a:tint val="82000"/>
                  </a:schemeClr>
                </a:solidFill>
              </a:defRPr>
            </a:lvl1pPr>
            <a:lvl2pPr marL="1637965" indent="0">
              <a:buNone/>
              <a:defRPr sz="7165">
                <a:solidFill>
                  <a:schemeClr val="tx1">
                    <a:tint val="82000"/>
                  </a:schemeClr>
                </a:solidFill>
              </a:defRPr>
            </a:lvl2pPr>
            <a:lvl3pPr marL="3275929" indent="0">
              <a:buNone/>
              <a:defRPr sz="6449">
                <a:solidFill>
                  <a:schemeClr val="tx1">
                    <a:tint val="82000"/>
                  </a:schemeClr>
                </a:solidFill>
              </a:defRPr>
            </a:lvl3pPr>
            <a:lvl4pPr marL="4913894" indent="0">
              <a:buNone/>
              <a:defRPr sz="5732">
                <a:solidFill>
                  <a:schemeClr val="tx1">
                    <a:tint val="82000"/>
                  </a:schemeClr>
                </a:solidFill>
              </a:defRPr>
            </a:lvl4pPr>
            <a:lvl5pPr marL="6551859" indent="0">
              <a:buNone/>
              <a:defRPr sz="5732">
                <a:solidFill>
                  <a:schemeClr val="tx1">
                    <a:tint val="82000"/>
                  </a:schemeClr>
                </a:solidFill>
              </a:defRPr>
            </a:lvl5pPr>
            <a:lvl6pPr marL="8189824" indent="0">
              <a:buNone/>
              <a:defRPr sz="5732">
                <a:solidFill>
                  <a:schemeClr val="tx1">
                    <a:tint val="82000"/>
                  </a:schemeClr>
                </a:solidFill>
              </a:defRPr>
            </a:lvl6pPr>
            <a:lvl7pPr marL="9827788" indent="0">
              <a:buNone/>
              <a:defRPr sz="5732">
                <a:solidFill>
                  <a:schemeClr val="tx1">
                    <a:tint val="82000"/>
                  </a:schemeClr>
                </a:solidFill>
              </a:defRPr>
            </a:lvl7pPr>
            <a:lvl8pPr marL="11465753" indent="0">
              <a:buNone/>
              <a:defRPr sz="5732">
                <a:solidFill>
                  <a:schemeClr val="tx1">
                    <a:tint val="82000"/>
                  </a:schemeClr>
                </a:solidFill>
              </a:defRPr>
            </a:lvl8pPr>
            <a:lvl9pPr marL="13103718" indent="0">
              <a:buNone/>
              <a:defRPr sz="5732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C18F9-AF19-1249-B878-15A5F238A3F5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66669-144A-3B43-A0F0-CC848BFB4A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6892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52226" y="11404240"/>
            <a:ext cx="13922851" cy="2718176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584573" y="11404240"/>
            <a:ext cx="13922851" cy="2718176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C18F9-AF19-1249-B878-15A5F238A3F5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66669-144A-3B43-A0F0-CC848BFB4A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9121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56493" y="2280857"/>
            <a:ext cx="28255198" cy="828047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56497" y="10501820"/>
            <a:ext cx="13858865" cy="5146780"/>
          </a:xfrm>
        </p:spPr>
        <p:txBody>
          <a:bodyPr anchor="b"/>
          <a:lstStyle>
            <a:lvl1pPr marL="0" indent="0">
              <a:buNone/>
              <a:defRPr sz="8598" b="1"/>
            </a:lvl1pPr>
            <a:lvl2pPr marL="1637965" indent="0">
              <a:buNone/>
              <a:defRPr sz="7165" b="1"/>
            </a:lvl2pPr>
            <a:lvl3pPr marL="3275929" indent="0">
              <a:buNone/>
              <a:defRPr sz="6449" b="1"/>
            </a:lvl3pPr>
            <a:lvl4pPr marL="4913894" indent="0">
              <a:buNone/>
              <a:defRPr sz="5732" b="1"/>
            </a:lvl4pPr>
            <a:lvl5pPr marL="6551859" indent="0">
              <a:buNone/>
              <a:defRPr sz="5732" b="1"/>
            </a:lvl5pPr>
            <a:lvl6pPr marL="8189824" indent="0">
              <a:buNone/>
              <a:defRPr sz="5732" b="1"/>
            </a:lvl6pPr>
            <a:lvl7pPr marL="9827788" indent="0">
              <a:buNone/>
              <a:defRPr sz="5732" b="1"/>
            </a:lvl7pPr>
            <a:lvl8pPr marL="11465753" indent="0">
              <a:buNone/>
              <a:defRPr sz="5732" b="1"/>
            </a:lvl8pPr>
            <a:lvl9pPr marL="13103718" indent="0">
              <a:buNone/>
              <a:defRPr sz="5732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56497" y="15648601"/>
            <a:ext cx="13858865" cy="2301673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584575" y="10501820"/>
            <a:ext cx="13927118" cy="5146780"/>
          </a:xfrm>
        </p:spPr>
        <p:txBody>
          <a:bodyPr anchor="b"/>
          <a:lstStyle>
            <a:lvl1pPr marL="0" indent="0">
              <a:buNone/>
              <a:defRPr sz="8598" b="1"/>
            </a:lvl1pPr>
            <a:lvl2pPr marL="1637965" indent="0">
              <a:buNone/>
              <a:defRPr sz="7165" b="1"/>
            </a:lvl2pPr>
            <a:lvl3pPr marL="3275929" indent="0">
              <a:buNone/>
              <a:defRPr sz="6449" b="1"/>
            </a:lvl3pPr>
            <a:lvl4pPr marL="4913894" indent="0">
              <a:buNone/>
              <a:defRPr sz="5732" b="1"/>
            </a:lvl4pPr>
            <a:lvl5pPr marL="6551859" indent="0">
              <a:buNone/>
              <a:defRPr sz="5732" b="1"/>
            </a:lvl5pPr>
            <a:lvl6pPr marL="8189824" indent="0">
              <a:buNone/>
              <a:defRPr sz="5732" b="1"/>
            </a:lvl6pPr>
            <a:lvl7pPr marL="9827788" indent="0">
              <a:buNone/>
              <a:defRPr sz="5732" b="1"/>
            </a:lvl7pPr>
            <a:lvl8pPr marL="11465753" indent="0">
              <a:buNone/>
              <a:defRPr sz="5732" b="1"/>
            </a:lvl8pPr>
            <a:lvl9pPr marL="13103718" indent="0">
              <a:buNone/>
              <a:defRPr sz="5732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584575" y="15648601"/>
            <a:ext cx="13927118" cy="2301673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C18F9-AF19-1249-B878-15A5F238A3F5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66669-144A-3B43-A0F0-CC848BFB4A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5135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C18F9-AF19-1249-B878-15A5F238A3F5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66669-144A-3B43-A0F0-CC848BFB4A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7606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C18F9-AF19-1249-B878-15A5F238A3F5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66669-144A-3B43-A0F0-CC848BFB4A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1037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56493" y="2856018"/>
            <a:ext cx="10565840" cy="9996064"/>
          </a:xfrm>
        </p:spPr>
        <p:txBody>
          <a:bodyPr anchor="b"/>
          <a:lstStyle>
            <a:lvl1pPr>
              <a:defRPr sz="11464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27118" y="6168216"/>
            <a:ext cx="16584573" cy="30444362"/>
          </a:xfrm>
        </p:spPr>
        <p:txBody>
          <a:bodyPr/>
          <a:lstStyle>
            <a:lvl1pPr>
              <a:defRPr sz="11464"/>
            </a:lvl1pPr>
            <a:lvl2pPr>
              <a:defRPr sz="10031"/>
            </a:lvl2pPr>
            <a:lvl3pPr>
              <a:defRPr sz="8598"/>
            </a:lvl3pPr>
            <a:lvl4pPr>
              <a:defRPr sz="7165"/>
            </a:lvl4pPr>
            <a:lvl5pPr>
              <a:defRPr sz="7165"/>
            </a:lvl5pPr>
            <a:lvl6pPr>
              <a:defRPr sz="7165"/>
            </a:lvl6pPr>
            <a:lvl7pPr>
              <a:defRPr sz="7165"/>
            </a:lvl7pPr>
            <a:lvl8pPr>
              <a:defRPr sz="7165"/>
            </a:lvl8pPr>
            <a:lvl9pPr>
              <a:defRPr sz="7165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56493" y="12852082"/>
            <a:ext cx="10565840" cy="23810073"/>
          </a:xfrm>
        </p:spPr>
        <p:txBody>
          <a:bodyPr/>
          <a:lstStyle>
            <a:lvl1pPr marL="0" indent="0">
              <a:buNone/>
              <a:defRPr sz="5732"/>
            </a:lvl1pPr>
            <a:lvl2pPr marL="1637965" indent="0">
              <a:buNone/>
              <a:defRPr sz="5016"/>
            </a:lvl2pPr>
            <a:lvl3pPr marL="3275929" indent="0">
              <a:buNone/>
              <a:defRPr sz="4299"/>
            </a:lvl3pPr>
            <a:lvl4pPr marL="4913894" indent="0">
              <a:buNone/>
              <a:defRPr sz="3583"/>
            </a:lvl4pPr>
            <a:lvl5pPr marL="6551859" indent="0">
              <a:buNone/>
              <a:defRPr sz="3583"/>
            </a:lvl5pPr>
            <a:lvl6pPr marL="8189824" indent="0">
              <a:buNone/>
              <a:defRPr sz="3583"/>
            </a:lvl6pPr>
            <a:lvl7pPr marL="9827788" indent="0">
              <a:buNone/>
              <a:defRPr sz="3583"/>
            </a:lvl7pPr>
            <a:lvl8pPr marL="11465753" indent="0">
              <a:buNone/>
              <a:defRPr sz="3583"/>
            </a:lvl8pPr>
            <a:lvl9pPr marL="13103718" indent="0">
              <a:buNone/>
              <a:defRPr sz="3583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C18F9-AF19-1249-B878-15A5F238A3F5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66669-144A-3B43-A0F0-CC848BFB4A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77272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56493" y="2856018"/>
            <a:ext cx="10565840" cy="9996064"/>
          </a:xfrm>
        </p:spPr>
        <p:txBody>
          <a:bodyPr anchor="b"/>
          <a:lstStyle>
            <a:lvl1pPr>
              <a:defRPr sz="11464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927118" y="6168216"/>
            <a:ext cx="16584573" cy="30444362"/>
          </a:xfrm>
        </p:spPr>
        <p:txBody>
          <a:bodyPr anchor="t"/>
          <a:lstStyle>
            <a:lvl1pPr marL="0" indent="0">
              <a:buNone/>
              <a:defRPr sz="11464"/>
            </a:lvl1pPr>
            <a:lvl2pPr marL="1637965" indent="0">
              <a:buNone/>
              <a:defRPr sz="10031"/>
            </a:lvl2pPr>
            <a:lvl3pPr marL="3275929" indent="0">
              <a:buNone/>
              <a:defRPr sz="8598"/>
            </a:lvl3pPr>
            <a:lvl4pPr marL="4913894" indent="0">
              <a:buNone/>
              <a:defRPr sz="7165"/>
            </a:lvl4pPr>
            <a:lvl5pPr marL="6551859" indent="0">
              <a:buNone/>
              <a:defRPr sz="7165"/>
            </a:lvl5pPr>
            <a:lvl6pPr marL="8189824" indent="0">
              <a:buNone/>
              <a:defRPr sz="7165"/>
            </a:lvl6pPr>
            <a:lvl7pPr marL="9827788" indent="0">
              <a:buNone/>
              <a:defRPr sz="7165"/>
            </a:lvl7pPr>
            <a:lvl8pPr marL="11465753" indent="0">
              <a:buNone/>
              <a:defRPr sz="7165"/>
            </a:lvl8pPr>
            <a:lvl9pPr marL="13103718" indent="0">
              <a:buNone/>
              <a:defRPr sz="7165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56493" y="12852082"/>
            <a:ext cx="10565840" cy="23810073"/>
          </a:xfrm>
        </p:spPr>
        <p:txBody>
          <a:bodyPr/>
          <a:lstStyle>
            <a:lvl1pPr marL="0" indent="0">
              <a:buNone/>
              <a:defRPr sz="5732"/>
            </a:lvl1pPr>
            <a:lvl2pPr marL="1637965" indent="0">
              <a:buNone/>
              <a:defRPr sz="5016"/>
            </a:lvl2pPr>
            <a:lvl3pPr marL="3275929" indent="0">
              <a:buNone/>
              <a:defRPr sz="4299"/>
            </a:lvl3pPr>
            <a:lvl4pPr marL="4913894" indent="0">
              <a:buNone/>
              <a:defRPr sz="3583"/>
            </a:lvl4pPr>
            <a:lvl5pPr marL="6551859" indent="0">
              <a:buNone/>
              <a:defRPr sz="3583"/>
            </a:lvl5pPr>
            <a:lvl6pPr marL="8189824" indent="0">
              <a:buNone/>
              <a:defRPr sz="3583"/>
            </a:lvl6pPr>
            <a:lvl7pPr marL="9827788" indent="0">
              <a:buNone/>
              <a:defRPr sz="3583"/>
            </a:lvl7pPr>
            <a:lvl8pPr marL="11465753" indent="0">
              <a:buNone/>
              <a:defRPr sz="3583"/>
            </a:lvl8pPr>
            <a:lvl9pPr marL="13103718" indent="0">
              <a:buNone/>
              <a:defRPr sz="3583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C18F9-AF19-1249-B878-15A5F238A3F5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66669-144A-3B43-A0F0-CC848BFB4A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1840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C18F9-AF19-1249-B878-15A5F238A3F5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66669-144A-3B43-A0F0-CC848BFB4A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2225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3443626" y="2280848"/>
            <a:ext cx="7063800" cy="36305153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52228" y="2280848"/>
            <a:ext cx="20781903" cy="36305153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C18F9-AF19-1249-B878-15A5F238A3F5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66669-144A-3B43-A0F0-CC848BFB4A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3877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52226" y="2280857"/>
            <a:ext cx="28255198" cy="82804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52226" y="11404240"/>
            <a:ext cx="28255198" cy="271817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252226" y="39706598"/>
            <a:ext cx="7370921" cy="22808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29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BC18F9-AF19-1249-B878-15A5F238A3F5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51634" y="39706598"/>
            <a:ext cx="11056382" cy="22808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29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136503" y="39706598"/>
            <a:ext cx="7370921" cy="22808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29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166669-144A-3B43-A0F0-CC848BFB4A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2829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275929" rtl="0" eaLnBrk="1" latinLnBrk="0" hangingPunct="1">
        <a:lnSpc>
          <a:spcPct val="90000"/>
        </a:lnSpc>
        <a:spcBef>
          <a:spcPct val="0"/>
        </a:spcBef>
        <a:buNone/>
        <a:defRPr sz="1576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18982" indent="-818982" algn="l" defTabSz="3275929" rtl="0" eaLnBrk="1" latinLnBrk="0" hangingPunct="1">
        <a:lnSpc>
          <a:spcPct val="90000"/>
        </a:lnSpc>
        <a:spcBef>
          <a:spcPts val="3583"/>
        </a:spcBef>
        <a:buFont typeface="Arial" panose="020B0604020202020204" pitchFamily="34" charset="0"/>
        <a:buChar char="•"/>
        <a:defRPr sz="10031" kern="1200">
          <a:solidFill>
            <a:schemeClr val="tx1"/>
          </a:solidFill>
          <a:latin typeface="+mn-lt"/>
          <a:ea typeface="+mn-ea"/>
          <a:cs typeface="+mn-cs"/>
        </a:defRPr>
      </a:lvl1pPr>
      <a:lvl2pPr marL="2456947" indent="-818982" algn="l" defTabSz="3275929" rtl="0" eaLnBrk="1" latinLnBrk="0" hangingPunct="1">
        <a:lnSpc>
          <a:spcPct val="90000"/>
        </a:lnSpc>
        <a:spcBef>
          <a:spcPts val="1791"/>
        </a:spcBef>
        <a:buFont typeface="Arial" panose="020B0604020202020204" pitchFamily="34" charset="0"/>
        <a:buChar char="•"/>
        <a:defRPr sz="8598" kern="1200">
          <a:solidFill>
            <a:schemeClr val="tx1"/>
          </a:solidFill>
          <a:latin typeface="+mn-lt"/>
          <a:ea typeface="+mn-ea"/>
          <a:cs typeface="+mn-cs"/>
        </a:defRPr>
      </a:lvl2pPr>
      <a:lvl3pPr marL="4094912" indent="-818982" algn="l" defTabSz="3275929" rtl="0" eaLnBrk="1" latinLnBrk="0" hangingPunct="1">
        <a:lnSpc>
          <a:spcPct val="90000"/>
        </a:lnSpc>
        <a:spcBef>
          <a:spcPts val="1791"/>
        </a:spcBef>
        <a:buFont typeface="Arial" panose="020B0604020202020204" pitchFamily="34" charset="0"/>
        <a:buChar char="•"/>
        <a:defRPr sz="7165" kern="1200">
          <a:solidFill>
            <a:schemeClr val="tx1"/>
          </a:solidFill>
          <a:latin typeface="+mn-lt"/>
          <a:ea typeface="+mn-ea"/>
          <a:cs typeface="+mn-cs"/>
        </a:defRPr>
      </a:lvl3pPr>
      <a:lvl4pPr marL="5732877" indent="-818982" algn="l" defTabSz="3275929" rtl="0" eaLnBrk="1" latinLnBrk="0" hangingPunct="1">
        <a:lnSpc>
          <a:spcPct val="90000"/>
        </a:lnSpc>
        <a:spcBef>
          <a:spcPts val="1791"/>
        </a:spcBef>
        <a:buFont typeface="Arial" panose="020B0604020202020204" pitchFamily="34" charset="0"/>
        <a:buChar char="•"/>
        <a:defRPr sz="6449" kern="1200">
          <a:solidFill>
            <a:schemeClr val="tx1"/>
          </a:solidFill>
          <a:latin typeface="+mn-lt"/>
          <a:ea typeface="+mn-ea"/>
          <a:cs typeface="+mn-cs"/>
        </a:defRPr>
      </a:lvl4pPr>
      <a:lvl5pPr marL="7370841" indent="-818982" algn="l" defTabSz="3275929" rtl="0" eaLnBrk="1" latinLnBrk="0" hangingPunct="1">
        <a:lnSpc>
          <a:spcPct val="90000"/>
        </a:lnSpc>
        <a:spcBef>
          <a:spcPts val="1791"/>
        </a:spcBef>
        <a:buFont typeface="Arial" panose="020B0604020202020204" pitchFamily="34" charset="0"/>
        <a:buChar char="•"/>
        <a:defRPr sz="6449" kern="1200">
          <a:solidFill>
            <a:schemeClr val="tx1"/>
          </a:solidFill>
          <a:latin typeface="+mn-lt"/>
          <a:ea typeface="+mn-ea"/>
          <a:cs typeface="+mn-cs"/>
        </a:defRPr>
      </a:lvl5pPr>
      <a:lvl6pPr marL="9008806" indent="-818982" algn="l" defTabSz="3275929" rtl="0" eaLnBrk="1" latinLnBrk="0" hangingPunct="1">
        <a:lnSpc>
          <a:spcPct val="90000"/>
        </a:lnSpc>
        <a:spcBef>
          <a:spcPts val="1791"/>
        </a:spcBef>
        <a:buFont typeface="Arial" panose="020B0604020202020204" pitchFamily="34" charset="0"/>
        <a:buChar char="•"/>
        <a:defRPr sz="6449" kern="1200">
          <a:solidFill>
            <a:schemeClr val="tx1"/>
          </a:solidFill>
          <a:latin typeface="+mn-lt"/>
          <a:ea typeface="+mn-ea"/>
          <a:cs typeface="+mn-cs"/>
        </a:defRPr>
      </a:lvl6pPr>
      <a:lvl7pPr marL="10646771" indent="-818982" algn="l" defTabSz="3275929" rtl="0" eaLnBrk="1" latinLnBrk="0" hangingPunct="1">
        <a:lnSpc>
          <a:spcPct val="90000"/>
        </a:lnSpc>
        <a:spcBef>
          <a:spcPts val="1791"/>
        </a:spcBef>
        <a:buFont typeface="Arial" panose="020B0604020202020204" pitchFamily="34" charset="0"/>
        <a:buChar char="•"/>
        <a:defRPr sz="6449" kern="1200">
          <a:solidFill>
            <a:schemeClr val="tx1"/>
          </a:solidFill>
          <a:latin typeface="+mn-lt"/>
          <a:ea typeface="+mn-ea"/>
          <a:cs typeface="+mn-cs"/>
        </a:defRPr>
      </a:lvl7pPr>
      <a:lvl8pPr marL="12284735" indent="-818982" algn="l" defTabSz="3275929" rtl="0" eaLnBrk="1" latinLnBrk="0" hangingPunct="1">
        <a:lnSpc>
          <a:spcPct val="90000"/>
        </a:lnSpc>
        <a:spcBef>
          <a:spcPts val="1791"/>
        </a:spcBef>
        <a:buFont typeface="Arial" panose="020B0604020202020204" pitchFamily="34" charset="0"/>
        <a:buChar char="•"/>
        <a:defRPr sz="6449" kern="1200">
          <a:solidFill>
            <a:schemeClr val="tx1"/>
          </a:solidFill>
          <a:latin typeface="+mn-lt"/>
          <a:ea typeface="+mn-ea"/>
          <a:cs typeface="+mn-cs"/>
        </a:defRPr>
      </a:lvl8pPr>
      <a:lvl9pPr marL="13922700" indent="-818982" algn="l" defTabSz="3275929" rtl="0" eaLnBrk="1" latinLnBrk="0" hangingPunct="1">
        <a:lnSpc>
          <a:spcPct val="90000"/>
        </a:lnSpc>
        <a:spcBef>
          <a:spcPts val="1791"/>
        </a:spcBef>
        <a:buFont typeface="Arial" panose="020B0604020202020204" pitchFamily="34" charset="0"/>
        <a:buChar char="•"/>
        <a:defRPr sz="644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275929" rtl="0" eaLnBrk="1" latinLnBrk="0" hangingPunct="1">
        <a:defRPr sz="6449" kern="1200">
          <a:solidFill>
            <a:schemeClr val="tx1"/>
          </a:solidFill>
          <a:latin typeface="+mn-lt"/>
          <a:ea typeface="+mn-ea"/>
          <a:cs typeface="+mn-cs"/>
        </a:defRPr>
      </a:lvl1pPr>
      <a:lvl2pPr marL="1637965" algn="l" defTabSz="3275929" rtl="0" eaLnBrk="1" latinLnBrk="0" hangingPunct="1">
        <a:defRPr sz="6449" kern="1200">
          <a:solidFill>
            <a:schemeClr val="tx1"/>
          </a:solidFill>
          <a:latin typeface="+mn-lt"/>
          <a:ea typeface="+mn-ea"/>
          <a:cs typeface="+mn-cs"/>
        </a:defRPr>
      </a:lvl2pPr>
      <a:lvl3pPr marL="3275929" algn="l" defTabSz="3275929" rtl="0" eaLnBrk="1" latinLnBrk="0" hangingPunct="1">
        <a:defRPr sz="6449" kern="1200">
          <a:solidFill>
            <a:schemeClr val="tx1"/>
          </a:solidFill>
          <a:latin typeface="+mn-lt"/>
          <a:ea typeface="+mn-ea"/>
          <a:cs typeface="+mn-cs"/>
        </a:defRPr>
      </a:lvl3pPr>
      <a:lvl4pPr marL="4913894" algn="l" defTabSz="3275929" rtl="0" eaLnBrk="1" latinLnBrk="0" hangingPunct="1">
        <a:defRPr sz="6449" kern="1200">
          <a:solidFill>
            <a:schemeClr val="tx1"/>
          </a:solidFill>
          <a:latin typeface="+mn-lt"/>
          <a:ea typeface="+mn-ea"/>
          <a:cs typeface="+mn-cs"/>
        </a:defRPr>
      </a:lvl4pPr>
      <a:lvl5pPr marL="6551859" algn="l" defTabSz="3275929" rtl="0" eaLnBrk="1" latinLnBrk="0" hangingPunct="1">
        <a:defRPr sz="6449" kern="1200">
          <a:solidFill>
            <a:schemeClr val="tx1"/>
          </a:solidFill>
          <a:latin typeface="+mn-lt"/>
          <a:ea typeface="+mn-ea"/>
          <a:cs typeface="+mn-cs"/>
        </a:defRPr>
      </a:lvl5pPr>
      <a:lvl6pPr marL="8189824" algn="l" defTabSz="3275929" rtl="0" eaLnBrk="1" latinLnBrk="0" hangingPunct="1">
        <a:defRPr sz="6449" kern="1200">
          <a:solidFill>
            <a:schemeClr val="tx1"/>
          </a:solidFill>
          <a:latin typeface="+mn-lt"/>
          <a:ea typeface="+mn-ea"/>
          <a:cs typeface="+mn-cs"/>
        </a:defRPr>
      </a:lvl6pPr>
      <a:lvl7pPr marL="9827788" algn="l" defTabSz="3275929" rtl="0" eaLnBrk="1" latinLnBrk="0" hangingPunct="1">
        <a:defRPr sz="6449" kern="1200">
          <a:solidFill>
            <a:schemeClr val="tx1"/>
          </a:solidFill>
          <a:latin typeface="+mn-lt"/>
          <a:ea typeface="+mn-ea"/>
          <a:cs typeface="+mn-cs"/>
        </a:defRPr>
      </a:lvl7pPr>
      <a:lvl8pPr marL="11465753" algn="l" defTabSz="3275929" rtl="0" eaLnBrk="1" latinLnBrk="0" hangingPunct="1">
        <a:defRPr sz="6449" kern="1200">
          <a:solidFill>
            <a:schemeClr val="tx1"/>
          </a:solidFill>
          <a:latin typeface="+mn-lt"/>
          <a:ea typeface="+mn-ea"/>
          <a:cs typeface="+mn-cs"/>
        </a:defRPr>
      </a:lvl8pPr>
      <a:lvl9pPr marL="13103718" algn="l" defTabSz="3275929" rtl="0" eaLnBrk="1" latinLnBrk="0" hangingPunct="1">
        <a:defRPr sz="644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chart" Target="../charts/char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Rounded Rectangle 168"/>
          <p:cNvSpPr/>
          <p:nvPr/>
        </p:nvSpPr>
        <p:spPr>
          <a:xfrm>
            <a:off x="16665854" y="31553810"/>
            <a:ext cx="15819120" cy="6202680"/>
          </a:xfrm>
          <a:prstGeom prst="roundRect">
            <a:avLst>
              <a:gd name="adj" fmla="val 4717"/>
            </a:avLst>
          </a:prstGeom>
          <a:solidFill>
            <a:srgbClr val="11B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Rounded Rectangle 162"/>
          <p:cNvSpPr/>
          <p:nvPr/>
        </p:nvSpPr>
        <p:spPr>
          <a:xfrm>
            <a:off x="16665854" y="21357234"/>
            <a:ext cx="15819120" cy="9958831"/>
          </a:xfrm>
          <a:prstGeom prst="roundRect">
            <a:avLst>
              <a:gd name="adj" fmla="val 2938"/>
            </a:avLst>
          </a:prstGeom>
          <a:solidFill>
            <a:srgbClr val="11B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Rounded Rectangle 160"/>
          <p:cNvSpPr/>
          <p:nvPr/>
        </p:nvSpPr>
        <p:spPr>
          <a:xfrm>
            <a:off x="17077334" y="23695050"/>
            <a:ext cx="14996160" cy="4599431"/>
          </a:xfrm>
          <a:prstGeom prst="roundRect">
            <a:avLst>
              <a:gd name="adj" fmla="val 437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Rounded Rectangle 118"/>
          <p:cNvSpPr/>
          <p:nvPr/>
        </p:nvSpPr>
        <p:spPr>
          <a:xfrm>
            <a:off x="16665854" y="7891272"/>
            <a:ext cx="15819120" cy="13228218"/>
          </a:xfrm>
          <a:prstGeom prst="roundRect">
            <a:avLst>
              <a:gd name="adj" fmla="val 2211"/>
            </a:avLst>
          </a:prstGeom>
          <a:solidFill>
            <a:srgbClr val="11B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Rounded Rectangle 116"/>
          <p:cNvSpPr/>
          <p:nvPr/>
        </p:nvSpPr>
        <p:spPr>
          <a:xfrm>
            <a:off x="17077334" y="13283438"/>
            <a:ext cx="14996160" cy="6299860"/>
          </a:xfrm>
          <a:prstGeom prst="roundRect">
            <a:avLst>
              <a:gd name="adj" fmla="val 319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Rounded Rectangle 80"/>
          <p:cNvSpPr/>
          <p:nvPr/>
        </p:nvSpPr>
        <p:spPr>
          <a:xfrm>
            <a:off x="274320" y="27271726"/>
            <a:ext cx="15819120" cy="10484764"/>
          </a:xfrm>
          <a:prstGeom prst="roundRect">
            <a:avLst>
              <a:gd name="adj" fmla="val 2790"/>
            </a:avLst>
          </a:prstGeom>
          <a:solidFill>
            <a:srgbClr val="C7FF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Rounded Rectangle 65"/>
          <p:cNvSpPr/>
          <p:nvPr/>
        </p:nvSpPr>
        <p:spPr>
          <a:xfrm>
            <a:off x="274320" y="18974054"/>
            <a:ext cx="15819120" cy="8059927"/>
          </a:xfrm>
          <a:prstGeom prst="roundRect">
            <a:avLst>
              <a:gd name="adj" fmla="val 3630"/>
            </a:avLst>
          </a:prstGeom>
          <a:solidFill>
            <a:srgbClr val="C7FF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274320" y="7891272"/>
            <a:ext cx="15819120" cy="10845037"/>
          </a:xfrm>
          <a:prstGeom prst="roundRect">
            <a:avLst>
              <a:gd name="adj" fmla="val 2698"/>
            </a:avLst>
          </a:prstGeom>
          <a:solidFill>
            <a:srgbClr val="C7FF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274320" y="4526280"/>
            <a:ext cx="32210654" cy="3127248"/>
          </a:xfrm>
          <a:prstGeom prst="roundRect">
            <a:avLst>
              <a:gd name="adj" fmla="val 13157"/>
            </a:avLst>
          </a:prstGeom>
          <a:solidFill>
            <a:srgbClr val="6CF4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0D91530-1EC2-2E5F-2CEE-0202F2D8B007}"/>
              </a:ext>
            </a:extLst>
          </p:cNvPr>
          <p:cNvSpPr txBox="1"/>
          <p:nvPr/>
        </p:nvSpPr>
        <p:spPr>
          <a:xfrm>
            <a:off x="4572000" y="-99656"/>
            <a:ext cx="23591520" cy="260604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ctr">
              <a:lnSpc>
                <a:spcPts val="64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0" b="1" i="0" dirty="0">
                <a:solidFill>
                  <a:srgbClr val="000000"/>
                </a:solidFill>
                <a:latin typeface="GT Ultra Median Lloyds Regular"/>
                <a:ea typeface="GT Ultra Median Lloyds Regular"/>
              </a:rPr>
              <a:t>Daikoku at </a:t>
            </a:r>
            <a:r>
              <a:rPr lang="en-GB" sz="6000" b="1" i="0" dirty="0" err="1">
                <a:solidFill>
                  <a:srgbClr val="000000"/>
                </a:solidFill>
                <a:latin typeface="GT Ultra Median Lloyds Regular"/>
                <a:ea typeface="GT Ultra Median Lloyds Regular"/>
              </a:rPr>
              <a:t>FinEval</a:t>
            </a:r>
            <a:r>
              <a:rPr lang="en-GB" sz="6000" b="1" i="0" dirty="0">
                <a:solidFill>
                  <a:srgbClr val="000000"/>
                </a:solidFill>
                <a:latin typeface="GT Ultra Median Lloyds Regular"/>
                <a:ea typeface="GT Ultra Median Lloyds Regular"/>
              </a:rPr>
              <a:t> 2026:</a:t>
            </a:r>
          </a:p>
          <a:p>
            <a:pPr algn="ctr">
              <a:lnSpc>
                <a:spcPts val="64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0" b="1" i="0" dirty="0">
                <a:solidFill>
                  <a:srgbClr val="000000"/>
                </a:solidFill>
                <a:latin typeface="GT Ultra Median Lloyds Regular"/>
                <a:ea typeface="GT Ultra Median Lloyds Regular"/>
              </a:rPr>
              <a:t>Multi-Stage Labelling with Forced-Choice Adjudication</a:t>
            </a:r>
          </a:p>
        </p:txBody>
      </p:sp>
      <p:pic>
        <p:nvPicPr>
          <p:cNvPr id="3" name="Picture 2" descr="Primary Lloyds Banking Group logo">
            <a:extLst>
              <a:ext uri="{FF2B5EF4-FFF2-40B4-BE49-F238E27FC236}">
                <a16:creationId xmlns:a16="http://schemas.microsoft.com/office/drawing/2014/main" id="{B565DF27-B061-C6E8-453F-5EF030E2ECA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2961" y="679368"/>
            <a:ext cx="4001903" cy="3361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ED099C0-E755-4DF7-066A-8DC764100487}"/>
              </a:ext>
            </a:extLst>
          </p:cNvPr>
          <p:cNvSpPr txBox="1"/>
          <p:nvPr/>
        </p:nvSpPr>
        <p:spPr>
          <a:xfrm>
            <a:off x="7680960" y="3063240"/>
            <a:ext cx="17373600" cy="1143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ts val="41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 i="0" dirty="0">
                <a:solidFill>
                  <a:srgbClr val="000000"/>
                </a:solidFill>
                <a:latin typeface="GT Ultra Median Lloyds Regular"/>
                <a:ea typeface="GT Ultra Median Lloyds Regular"/>
              </a:rPr>
              <a:t>Kyosuke Morita</a:t>
            </a:r>
          </a:p>
          <a:p>
            <a:pPr algn="ctr">
              <a:lnSpc>
                <a:spcPts val="2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 b="0" i="0" dirty="0" err="1">
                <a:solidFill>
                  <a:srgbClr val="102820"/>
                </a:solidFill>
                <a:latin typeface="GT Ultra Median Lloyds Regular"/>
                <a:ea typeface="GT Ultra Median Lloyds Regular"/>
              </a:rPr>
              <a:t>Kyosuke.Morita@lloydsbanking.com</a:t>
            </a:r>
            <a:endParaRPr lang="en-GB" sz="2600" b="0" i="0" dirty="0">
              <a:solidFill>
                <a:srgbClr val="102820"/>
              </a:solidFill>
              <a:latin typeface="GT Ultra Median Lloyds Regular"/>
              <a:ea typeface="GT Ultra Median Lloyds Regular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F98715-987C-449A-F609-9A000D5079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91564" y="679368"/>
            <a:ext cx="5369477" cy="103787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8051" y="5300127"/>
            <a:ext cx="20482560" cy="237109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5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0" b="1" i="0" dirty="0">
                <a:solidFill>
                  <a:srgbClr val="000000"/>
                </a:solidFill>
                <a:latin typeface="GT Ultra Median Lloyds Regular"/>
                <a:ea typeface="GT Ultra Median Lloyds Regular"/>
              </a:rPr>
              <a:t>Published class totals certify a minimum number of errors F without any test labels. We audit an LLM’s independent labels against them, then re-ask the model to pick the odd items out of each over-full class. The floor falls to F = 0 and the file scores 48/50 — its two remaining errors are a label swap that no count can see.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1671280" y="4946904"/>
            <a:ext cx="0" cy="2286000"/>
          </a:xfrm>
          <a:prstGeom prst="line">
            <a:avLst/>
          </a:prstGeom>
          <a:ln w="31750">
            <a:solidFill>
              <a:srgbClr val="005B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1991320" y="5004190"/>
            <a:ext cx="4754880" cy="12801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9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200" b="1" i="0" dirty="0">
                <a:solidFill>
                  <a:srgbClr val="000000"/>
                </a:solidFill>
                <a:latin typeface="GT Ultra Lloyds Regular"/>
                <a:ea typeface="GT Ultra Lloyds Regular"/>
              </a:rPr>
              <a:t>48/50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066240" y="4901184"/>
            <a:ext cx="5394960" cy="11887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2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 b="1" i="0">
                <a:solidFill>
                  <a:srgbClr val="102820"/>
                </a:solidFill>
                <a:latin typeface="GT Ultra Median Lloyds Regular"/>
                <a:ea typeface="GT Ultra Median Lloyds Regular"/>
              </a:rPr>
              <a:t>official test accuracy</a:t>
            </a:r>
          </a:p>
          <a:p>
            <a:pPr algn="l">
              <a:lnSpc>
                <a:spcPts val="2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 b="0" i="0">
                <a:solidFill>
                  <a:srgbClr val="102820"/>
                </a:solidFill>
                <a:latin typeface="GT Ultra Median Lloyds Regular"/>
                <a:ea typeface="GT Ultra Median Lloyds Regular"/>
              </a:rPr>
              <a:t>15/15 public · 33/35 private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174200" y="6318504"/>
            <a:ext cx="4754880" cy="10058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5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400" b="1" i="0">
                <a:solidFill>
                  <a:srgbClr val="000000"/>
                </a:solidFill>
                <a:latin typeface="GT Ultra Lloyds Regular"/>
                <a:ea typeface="GT Ultra Lloyds Regular"/>
              </a:rPr>
              <a:t>4th of 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066240" y="6318504"/>
            <a:ext cx="5394960" cy="10058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2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 b="0" i="0">
                <a:solidFill>
                  <a:srgbClr val="102820"/>
                </a:solidFill>
                <a:latin typeface="GT Ultra Median Lloyds Regular"/>
                <a:ea typeface="GT Ultra Median Lloyds Regular"/>
              </a:rPr>
              <a:t>tied with two systems;</a:t>
            </a:r>
          </a:p>
          <a:p>
            <a:pPr algn="l">
              <a:lnSpc>
                <a:spcPts val="2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 b="0" i="0">
                <a:solidFill>
                  <a:srgbClr val="102820"/>
                </a:solidFill>
                <a:latin typeface="GT Ultra Median Lloyds Regular"/>
                <a:ea typeface="GT Ultra Median Lloyds Regular"/>
              </a:rPr>
              <a:t>leaders one item ahead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8094" y="38109655"/>
            <a:ext cx="32186880" cy="4498569"/>
          </a:xfrm>
          <a:prstGeom prst="roundRect">
            <a:avLst>
              <a:gd name="adj" fmla="val 9000"/>
            </a:avLst>
          </a:prstGeom>
          <a:solidFill>
            <a:srgbClr val="DC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TextBox 14"/>
          <p:cNvSpPr txBox="1"/>
          <p:nvPr/>
        </p:nvSpPr>
        <p:spPr>
          <a:xfrm>
            <a:off x="685800" y="38731260"/>
            <a:ext cx="11521440" cy="31893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en-GB" sz="2800" b="1" i="0" dirty="0">
              <a:solidFill>
                <a:srgbClr val="005B45"/>
              </a:solidFill>
              <a:latin typeface="GT Ultra Lloyds Regular"/>
              <a:ea typeface="GT Ultra Lloyds Regular"/>
            </a:endParaRPr>
          </a:p>
          <a:p>
            <a:pPr marL="457200" indent="-457200" algn="l">
              <a:lnSpc>
                <a:spcPts val="3000"/>
              </a:lnSpc>
              <a:spcBef>
                <a:spcPts val="0"/>
              </a:spcBef>
              <a:spcAft>
                <a:spcPts val="800"/>
              </a:spcAft>
              <a:buClr>
                <a:srgbClr val="005B45"/>
              </a:buClr>
              <a:buFont typeface="GT Ultra Median Lloyds Regular"/>
              <a:buAutoNum type="arabicPeriod"/>
            </a:pPr>
            <a:r>
              <a:rPr lang="en-GB" sz="2500" b="1" i="0" dirty="0">
                <a:solidFill>
                  <a:srgbClr val="102820"/>
                </a:solidFill>
                <a:latin typeface="GT Ultra Median Lloyds Regular"/>
                <a:ea typeface="GT Ultra Median Lloyds Regular"/>
              </a:rPr>
              <a:t>A published class distribution is a free, exhaustive detector of count-changing errors</a:t>
            </a:r>
            <a:r>
              <a:rPr lang="en-GB" sz="2500" b="0" i="0" dirty="0">
                <a:solidFill>
                  <a:srgbClr val="102820"/>
                </a:solidFill>
                <a:latin typeface="GT Ultra Median Lloyds Regular"/>
                <a:ea typeface="GT Ultra Median Lloyds Regular"/>
              </a:rPr>
              <a:t> — and blind to swaps.</a:t>
            </a:r>
          </a:p>
          <a:p>
            <a:pPr marL="457200" indent="-457200" algn="l">
              <a:lnSpc>
                <a:spcPts val="3000"/>
              </a:lnSpc>
              <a:spcBef>
                <a:spcPts val="0"/>
              </a:spcBef>
              <a:spcAft>
                <a:spcPts val="800"/>
              </a:spcAft>
              <a:buClr>
                <a:srgbClr val="005B45"/>
              </a:buClr>
              <a:buFont typeface="GT Ultra Median Lloyds Regular"/>
              <a:buAutoNum type="arabicPeriod"/>
            </a:pPr>
            <a:r>
              <a:rPr lang="en-GB" sz="2500" b="1" i="0" dirty="0">
                <a:solidFill>
                  <a:srgbClr val="102820"/>
                </a:solidFill>
                <a:latin typeface="GT Ultra Median Lloyds Regular"/>
                <a:ea typeface="GT Ultra Median Lloyds Regular"/>
              </a:rPr>
              <a:t>Use it to decide where to look, not what to change:</a:t>
            </a:r>
            <a:r>
              <a:rPr lang="en-GB" sz="2500" b="0" i="0" dirty="0">
                <a:solidFill>
                  <a:srgbClr val="102820"/>
                </a:solidFill>
                <a:latin typeface="GT Ultra Median Lloyds Regular"/>
                <a:ea typeface="GT Ultra Median Lloyds Regular"/>
              </a:rPr>
              <a:t> re-ask comparatively instead of re-weighting the old posterior.</a:t>
            </a:r>
          </a:p>
          <a:p>
            <a:pPr marL="457200" indent="-457200"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>
                <a:srgbClr val="005B45"/>
              </a:buClr>
              <a:buFont typeface="GT Ultra Median Lloyds Regular"/>
              <a:buAutoNum type="arabicPeriod"/>
            </a:pPr>
            <a:r>
              <a:rPr lang="en-GB" sz="2500" b="1" i="0" dirty="0">
                <a:solidFill>
                  <a:srgbClr val="102820"/>
                </a:solidFill>
                <a:latin typeface="GT Ultra Median Lloyds Regular"/>
                <a:ea typeface="GT Ultra Median Lloyds Regular"/>
              </a:rPr>
              <a:t>A model that is confidently wrong item by item can still pick the odd one out</a:t>
            </a:r>
            <a:r>
              <a:rPr lang="en-GB" sz="2500" b="0" i="0" dirty="0">
                <a:solidFill>
                  <a:srgbClr val="102820"/>
                </a:solidFill>
                <a:latin typeface="GT Ultra Median Lloyds Regular"/>
                <a:ea typeface="GT Ultra Median Lloyds Regular"/>
              </a:rPr>
              <a:t> — ranking needs no absolute threshold.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755880" y="38314274"/>
            <a:ext cx="9326880" cy="34975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2800" b="1" i="0" dirty="0">
                <a:solidFill>
                  <a:srgbClr val="005B45"/>
                </a:solidFill>
                <a:latin typeface="GT Ultra Lloyds Regular"/>
                <a:ea typeface="GT Ultra Lloyds Regular"/>
              </a:rPr>
              <a:t>LIMITATIONS</a:t>
            </a:r>
          </a:p>
          <a:p>
            <a:pPr marL="384048" indent="-384048" algn="l">
              <a:lnSpc>
                <a:spcPts val="2760"/>
              </a:lnSpc>
              <a:spcBef>
                <a:spcPts val="0"/>
              </a:spcBef>
              <a:spcAft>
                <a:spcPts val="500"/>
              </a:spcAft>
              <a:buClr>
                <a:srgbClr val="005B45"/>
              </a:buClr>
              <a:buSzPct val="80000"/>
              <a:buFont typeface="Arial"/>
              <a:buChar char="■"/>
            </a:pPr>
            <a:r>
              <a:rPr lang="en-GB" sz="2300" b="0" i="0" dirty="0">
                <a:solidFill>
                  <a:srgbClr val="102820"/>
                </a:solidFill>
                <a:latin typeface="GT Ultra Median Lloyds Regular"/>
                <a:ea typeface="GT Ultra Median Lloyds Regular"/>
              </a:rPr>
              <a:t>Test gold is withheld: only leaderboard scores are external; </a:t>
            </a:r>
            <a:r>
              <a:rPr lang="en-GB" sz="2300" b="0" i="0" dirty="0" err="1">
                <a:solidFill>
                  <a:srgbClr val="102820"/>
                </a:solidFill>
                <a:latin typeface="GT Ultra Median Lloyds Regular"/>
                <a:ea typeface="GT Ultra Median Lloyds Regular"/>
              </a:rPr>
              <a:t>Agr</a:t>
            </a:r>
            <a:r>
              <a:rPr lang="en-GB" sz="2300" b="0" i="0" dirty="0">
                <a:solidFill>
                  <a:srgbClr val="102820"/>
                </a:solidFill>
                <a:latin typeface="GT Ultra Median Lloyds Regular"/>
                <a:ea typeface="GT Ultra Median Lloyds Regular"/>
              </a:rPr>
              <a:t>. is one non-independent annotation.</a:t>
            </a:r>
          </a:p>
          <a:p>
            <a:pPr marL="384048" indent="-384048" algn="l">
              <a:lnSpc>
                <a:spcPts val="2760"/>
              </a:lnSpc>
              <a:spcBef>
                <a:spcPts val="0"/>
              </a:spcBef>
              <a:spcAft>
                <a:spcPts val="500"/>
              </a:spcAft>
              <a:buClr>
                <a:srgbClr val="005B45"/>
              </a:buClr>
              <a:buSzPct val="80000"/>
              <a:buFont typeface="Arial"/>
              <a:buChar char="■"/>
            </a:pPr>
            <a:r>
              <a:rPr lang="en-GB" sz="2300" b="0" i="0" dirty="0">
                <a:solidFill>
                  <a:srgbClr val="102820"/>
                </a:solidFill>
                <a:latin typeface="GT Ultra Median Lloyds Regular"/>
                <a:ea typeface="GT Ultra Median Lloyds Regular"/>
              </a:rPr>
              <a:t>F = 0 cannot see a compensating pair; the submitted file still has two errors.</a:t>
            </a:r>
          </a:p>
          <a:p>
            <a:pPr marL="384048" indent="-384048" algn="l">
              <a:lnSpc>
                <a:spcPts val="2760"/>
              </a:lnSpc>
              <a:spcBef>
                <a:spcPts val="0"/>
              </a:spcBef>
              <a:spcAft>
                <a:spcPts val="500"/>
              </a:spcAft>
              <a:buClr>
                <a:srgbClr val="005B45"/>
              </a:buClr>
              <a:buSzPct val="80000"/>
              <a:buFont typeface="Arial"/>
              <a:buChar char="■"/>
            </a:pPr>
            <a:r>
              <a:rPr lang="en-GB" sz="2300" b="0" i="0" dirty="0">
                <a:solidFill>
                  <a:srgbClr val="102820"/>
                </a:solidFill>
                <a:latin typeface="GT Ultra Median Lloyds Regular"/>
                <a:ea typeface="GT Ultra Median Lloyds Regular"/>
              </a:rPr>
              <a:t>Needs a published marginal; an error of </a:t>
            </a:r>
            <a:r>
              <a:rPr lang="en-GB" sz="2300" b="0" i="0" dirty="0" err="1">
                <a:solidFill>
                  <a:srgbClr val="102820"/>
                </a:solidFill>
                <a:latin typeface="GT Ultra Median Lloyds Regular"/>
                <a:ea typeface="GT Ultra Median Lloyds Regular"/>
              </a:rPr>
              <a:t>Δ</a:t>
            </a:r>
            <a:r>
              <a:rPr lang="en-GB" sz="2300" b="0" i="0" dirty="0">
                <a:solidFill>
                  <a:srgbClr val="102820"/>
                </a:solidFill>
                <a:latin typeface="GT Ultra Median Lloyds Regular"/>
                <a:ea typeface="GT Ultra Median Lloyds Regular"/>
              </a:rPr>
              <a:t> items weakens the floor by up to </a:t>
            </a:r>
            <a:r>
              <a:rPr lang="en-GB" sz="2300" b="0" i="0" dirty="0" err="1">
                <a:solidFill>
                  <a:srgbClr val="102820"/>
                </a:solidFill>
                <a:latin typeface="GT Ultra Median Lloyds Regular"/>
                <a:ea typeface="GT Ultra Median Lloyds Regular"/>
              </a:rPr>
              <a:t>Δ</a:t>
            </a:r>
            <a:r>
              <a:rPr lang="en-GB" sz="2300" b="0" i="0" dirty="0">
                <a:solidFill>
                  <a:srgbClr val="102820"/>
                </a:solidFill>
                <a:latin typeface="GT Ultra Median Lloyds Regular"/>
                <a:ea typeface="GT Ultra Median Lloyds Regular"/>
              </a:rPr>
              <a:t>.</a:t>
            </a:r>
          </a:p>
          <a:p>
            <a:pPr marL="384048" indent="-384048" algn="l">
              <a:lnSpc>
                <a:spcPts val="2760"/>
              </a:lnSpc>
              <a:spcBef>
                <a:spcPts val="0"/>
              </a:spcBef>
              <a:spcAft>
                <a:spcPts val="0"/>
              </a:spcAft>
              <a:buClr>
                <a:srgbClr val="005B45"/>
              </a:buClr>
              <a:buSzPct val="80000"/>
              <a:buFont typeface="Arial"/>
              <a:buChar char="■"/>
            </a:pPr>
            <a:r>
              <a:rPr lang="en-GB" sz="2300" b="0" i="0" dirty="0">
                <a:solidFill>
                  <a:srgbClr val="102820"/>
                </a:solidFill>
                <a:latin typeface="GT Ultra Median Lloyds Regular"/>
                <a:ea typeface="GT Ultra Median Lloyds Regular"/>
              </a:rPr>
              <a:t>Greedy </a:t>
            </a:r>
            <a:r>
              <a:rPr lang="en-GB" sz="2300" b="0" i="0" dirty="0" err="1">
                <a:solidFill>
                  <a:srgbClr val="102820"/>
                </a:solidFill>
                <a:latin typeface="GT Ultra Median Lloyds Regular"/>
                <a:ea typeface="GT Ultra Median Lloyds Regular"/>
              </a:rPr>
              <a:t>llama.cpp</a:t>
            </a:r>
            <a:r>
              <a:rPr lang="en-GB" sz="2300" b="0" i="0" dirty="0">
                <a:solidFill>
                  <a:srgbClr val="102820"/>
                </a:solidFill>
                <a:latin typeface="GT Ultra Median Lloyds Regular"/>
                <a:ea typeface="GT Ultra Median Lloyds Regular"/>
              </a:rPr>
              <a:t> decoding is not bit-exact; Stages 2–3 replay from the released Stage 1 output.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631400" y="38314274"/>
            <a:ext cx="9442094" cy="1554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2800" b="1" i="0" dirty="0">
                <a:solidFill>
                  <a:srgbClr val="005B45"/>
                </a:solidFill>
                <a:latin typeface="GT Ultra Lloyds Regular"/>
                <a:ea typeface="GT Ultra Lloyds Regular"/>
              </a:rPr>
              <a:t>REPRODUCIBILITY &amp; LINKS</a:t>
            </a:r>
          </a:p>
          <a:p>
            <a:pPr algn="l">
              <a:lnSpc>
                <a:spcPts val="27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 b="0" i="0" dirty="0">
                <a:solidFill>
                  <a:srgbClr val="102820"/>
                </a:solidFill>
                <a:latin typeface="GT Ultra Median Lloyds Regular"/>
                <a:ea typeface="GT Ultra Median Lloyds Regular"/>
              </a:rPr>
              <a:t>Qwen3.6-35B-A3B · 22 GB GGUF (UD-Q4_K_M) · reasoning off</a:t>
            </a:r>
          </a:p>
          <a:p>
            <a:pPr algn="l">
              <a:lnSpc>
                <a:spcPts val="27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 b="0" i="0" dirty="0">
                <a:solidFill>
                  <a:srgbClr val="102820"/>
                </a:solidFill>
                <a:latin typeface="GT Ultra Median Lloyds Regular"/>
                <a:ea typeface="GT Ultra Median Lloyds Regular"/>
              </a:rPr>
              <a:t>Apple M3 Max, 48 GB · greedy decoding (T = 0)</a:t>
            </a:r>
          </a:p>
          <a:p>
            <a:pPr algn="l">
              <a:lnSpc>
                <a:spcPts val="27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 b="1" i="0" dirty="0">
                <a:solidFill>
                  <a:srgbClr val="005B45"/>
                </a:solidFill>
                <a:latin typeface="GT Ultra Median Lloyds Regular"/>
                <a:ea typeface="GT Ultra Median Lloyds Regular"/>
              </a:rPr>
              <a:t>End-to-end test run: just over 4 minutes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456187" y="42023382"/>
            <a:ext cx="2359151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b="1" i="0" dirty="0">
                <a:solidFill>
                  <a:srgbClr val="005B45"/>
                </a:solidFill>
                <a:latin typeface="GT Ultra Median Lloyds Regular"/>
                <a:ea typeface="GT Ultra Median Lloyds Regular"/>
              </a:rPr>
              <a:t>Code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096728" y="42023382"/>
            <a:ext cx="2359151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b="1" i="0" dirty="0">
                <a:solidFill>
                  <a:srgbClr val="005B45"/>
                </a:solidFill>
                <a:latin typeface="GT Ultra Median Lloyds Regular"/>
                <a:ea typeface="GT Ultra Median Lloyds Regular"/>
              </a:rPr>
              <a:t>LinkedIn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2481559" y="38405714"/>
            <a:ext cx="0" cy="3840480"/>
          </a:xfrm>
          <a:prstGeom prst="line">
            <a:avLst/>
          </a:prstGeom>
          <a:ln w="19050">
            <a:solidFill>
              <a:srgbClr val="9AB0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2357080" y="38405714"/>
            <a:ext cx="0" cy="3840480"/>
          </a:xfrm>
          <a:prstGeom prst="line">
            <a:avLst/>
          </a:prstGeom>
          <a:ln w="19050">
            <a:solidFill>
              <a:srgbClr val="9AB0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685800" y="8220456"/>
            <a:ext cx="786384" cy="786384"/>
          </a:xfrm>
          <a:prstGeom prst="ellipse">
            <a:avLst/>
          </a:prstGeom>
          <a:solidFill>
            <a:srgbClr val="005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400" b="1" i="0">
                <a:solidFill>
                  <a:srgbClr val="FFFFFF"/>
                </a:solidFill>
                <a:latin typeface="GT Ultra Lloyds Regular"/>
                <a:ea typeface="GT Ultra Lloyds Regular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28216" y="8238744"/>
            <a:ext cx="13953744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4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0" b="1" i="0" dirty="0">
                <a:solidFill>
                  <a:srgbClr val="000000"/>
                </a:solidFill>
                <a:latin typeface="GT Ultra Lloyds Regular"/>
                <a:ea typeface="GT Ultra Lloyds Regular"/>
              </a:rPr>
              <a:t>The task: implicit commitment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9208008"/>
            <a:ext cx="14996160" cy="8534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b="1" i="0" dirty="0">
                <a:solidFill>
                  <a:srgbClr val="102820"/>
                </a:solidFill>
                <a:latin typeface="GT Ultra Median Lloyds Regular"/>
                <a:ea typeface="GT Ultra Median Lloyds Regular"/>
              </a:rPr>
              <a:t>JF-ICR</a:t>
            </a:r>
            <a:r>
              <a:rPr lang="en-GB" sz="2800" b="0" i="0" dirty="0">
                <a:solidFill>
                  <a:srgbClr val="102820"/>
                </a:solidFill>
                <a:latin typeface="GT Ultra Median Lloyds Regular"/>
                <a:ea typeface="GT Ultra Median Lloyds Regular"/>
              </a:rPr>
              <a:t> (</a:t>
            </a:r>
            <a:r>
              <a:rPr lang="en-GB" sz="2800" b="0" i="0" dirty="0" err="1">
                <a:solidFill>
                  <a:srgbClr val="102820"/>
                </a:solidFill>
                <a:latin typeface="GT Ultra Median Lloyds Regular"/>
                <a:ea typeface="GT Ultra Median Lloyds Regular"/>
              </a:rPr>
              <a:t>FinEval</a:t>
            </a:r>
            <a:r>
              <a:rPr lang="en-GB" sz="2800" b="0" i="0" dirty="0">
                <a:solidFill>
                  <a:srgbClr val="102820"/>
                </a:solidFill>
                <a:latin typeface="GT Ultra Median Lloyds Regular"/>
                <a:ea typeface="GT Ultra Median Lloyds Regular"/>
              </a:rPr>
              <a:t> 2026 Sub-Task 2, from EBISU): place a company’s answer to an investor question on a five-point commitment scale. Metric: accuracy.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10290048"/>
            <a:ext cx="2852928" cy="868680"/>
          </a:xfrm>
          <a:prstGeom prst="roundRect">
            <a:avLst>
              <a:gd name="adj" fmla="val 18947"/>
            </a:avLst>
          </a:prstGeom>
          <a:solidFill>
            <a:srgbClr val="005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 i="0">
                <a:solidFill>
                  <a:srgbClr val="FFFFFF"/>
                </a:solidFill>
                <a:latin typeface="GT Ultra Lloyds Regular"/>
                <a:ea typeface="GT Ultra Lloyds Regular"/>
              </a:rPr>
              <a:t>+2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721608" y="10290048"/>
            <a:ext cx="2852928" cy="868680"/>
          </a:xfrm>
          <a:prstGeom prst="roundRect">
            <a:avLst>
              <a:gd name="adj" fmla="val 18947"/>
            </a:avLst>
          </a:prstGeom>
          <a:solidFill>
            <a:srgbClr val="008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 i="0">
                <a:solidFill>
                  <a:srgbClr val="FFFFFF"/>
                </a:solidFill>
                <a:latin typeface="GT Ultra Lloyds Regular"/>
                <a:ea typeface="GT Ultra Lloyds Regular"/>
              </a:rPr>
              <a:t>+1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757416" y="10290048"/>
            <a:ext cx="2852928" cy="868680"/>
          </a:xfrm>
          <a:prstGeom prst="roundRect">
            <a:avLst>
              <a:gd name="adj" fmla="val 18947"/>
            </a:avLst>
          </a:prstGeom>
          <a:solidFill>
            <a:srgbClr val="78B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 i="0">
                <a:solidFill>
                  <a:srgbClr val="102820"/>
                </a:solidFill>
                <a:latin typeface="GT Ultra Lloyds Regular"/>
                <a:ea typeface="GT Ultra Lloyds Regular"/>
              </a:rPr>
              <a:t>0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793224" y="10290048"/>
            <a:ext cx="2852928" cy="868680"/>
          </a:xfrm>
          <a:prstGeom prst="roundRect">
            <a:avLst>
              <a:gd name="adj" fmla="val 18947"/>
            </a:avLst>
          </a:prstGeom>
          <a:solidFill>
            <a:srgbClr val="B8D8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 i="0">
                <a:solidFill>
                  <a:srgbClr val="102820"/>
                </a:solidFill>
                <a:latin typeface="GT Ultra Lloyds Regular"/>
                <a:ea typeface="GT Ultra Lloyds Regular"/>
              </a:rPr>
              <a:t>−1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2829032" y="10290048"/>
            <a:ext cx="2852928" cy="868680"/>
          </a:xfrm>
          <a:prstGeom prst="roundRect">
            <a:avLst>
              <a:gd name="adj" fmla="val 18947"/>
            </a:avLst>
          </a:prstGeom>
          <a:solidFill>
            <a:srgbClr val="DC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 i="0">
                <a:solidFill>
                  <a:srgbClr val="102820"/>
                </a:solidFill>
                <a:latin typeface="GT Ultra Lloyds Regular"/>
                <a:ea typeface="GT Ultra Lloyds Regular"/>
              </a:rPr>
              <a:t>−2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11231880"/>
            <a:ext cx="5486400" cy="36575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8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 i="0">
                <a:solidFill>
                  <a:srgbClr val="005B45"/>
                </a:solidFill>
                <a:latin typeface="GT Ultra Median Lloyds Regular"/>
                <a:ea typeface="GT Ultra Median Lloyds Regular"/>
              </a:rPr>
              <a:t>strong commitment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95560" y="11231880"/>
            <a:ext cx="5486400" cy="36575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ts val="28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 i="0">
                <a:solidFill>
                  <a:srgbClr val="005B45"/>
                </a:solidFill>
                <a:latin typeface="GT Ultra Median Lloyds Regular"/>
                <a:ea typeface="GT Ultra Median Lloyds Regular"/>
              </a:rPr>
              <a:t>outright refusal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85800" y="11826240"/>
            <a:ext cx="14996160" cy="4112005"/>
          </a:xfrm>
          <a:prstGeom prst="roundRect">
            <a:avLst>
              <a:gd name="adj" fmla="val 489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78408" y="12118848"/>
            <a:ext cx="14410944" cy="352679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 b="1" i="0">
                <a:solidFill>
                  <a:srgbClr val="005B45"/>
                </a:solidFill>
                <a:latin typeface="GT Ultra Median Lloyds Regular"/>
                <a:ea typeface="GT Ultra Median Lloyds Regular"/>
              </a:rPr>
              <a:t>Q  </a:t>
            </a:r>
            <a:r>
              <a:rPr lang="ja-JP" sz="2600" b="0" i="0">
                <a:solidFill>
                  <a:srgbClr val="102820"/>
                </a:solidFill>
                <a:latin typeface="Hiragino Sans"/>
                <a:ea typeface="Hiragino Sans"/>
              </a:rPr>
              <a:t>今後の日銀の金融政策の見通しに対する見解は。</a:t>
            </a:r>
          </a:p>
          <a:p>
            <a:pPr marL="475488" algn="l">
              <a:lnSpc>
                <a:spcPts val="264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GB" sz="2200" b="0" i="1">
                <a:solidFill>
                  <a:srgbClr val="102820"/>
                </a:solidFill>
                <a:latin typeface="GT Ultra Median Lloyds Regular"/>
                <a:ea typeface="GT Ultra Median Lloyds Regular"/>
              </a:rPr>
              <a:t>‘What is your view on the outlook for Bank of Japan monetary policy?’</a:t>
            </a:r>
          </a:p>
          <a:p>
            <a:pPr algn="l">
              <a:lnSpc>
                <a:spcPts val="3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 b="1" i="0">
                <a:solidFill>
                  <a:srgbClr val="005B45"/>
                </a:solidFill>
                <a:latin typeface="GT Ultra Median Lloyds Regular"/>
                <a:ea typeface="GT Ultra Median Lloyds Regular"/>
              </a:rPr>
              <a:t>A  </a:t>
            </a:r>
            <a:r>
              <a:rPr lang="ja-JP" sz="2600" b="0" i="0">
                <a:solidFill>
                  <a:srgbClr val="102820"/>
                </a:solidFill>
                <a:latin typeface="Hiragino Sans"/>
                <a:ea typeface="Hiragino Sans"/>
              </a:rPr>
              <a:t>次回利上げが年末年始にあるかは</a:t>
            </a:r>
            <a:r>
              <a:rPr lang="ja-JP" sz="2600" b="1" i="0">
                <a:solidFill>
                  <a:srgbClr val="005B45"/>
                </a:solidFill>
                <a:latin typeface="Hiragino Sans"/>
                <a:ea typeface="Hiragino Sans"/>
              </a:rPr>
              <a:t>さほど重要視しておらず</a:t>
            </a:r>
            <a:r>
              <a:rPr lang="ja-JP" sz="2600" b="0" i="0">
                <a:solidFill>
                  <a:srgbClr val="102820"/>
                </a:solidFill>
                <a:latin typeface="Hiragino Sans"/>
                <a:ea typeface="Hiragino Sans"/>
              </a:rPr>
              <a:t>〔…〕</a:t>
            </a:r>
            <a:r>
              <a:rPr lang="en-GB" sz="2200" b="1" i="0">
                <a:solidFill>
                  <a:srgbClr val="005B45"/>
                </a:solidFill>
                <a:latin typeface="GT Ultra Median Lloyds Regular"/>
                <a:ea typeface="GT Ultra Median Lloyds Regular"/>
              </a:rPr>
              <a:t>   hedged</a:t>
            </a:r>
          </a:p>
          <a:p>
            <a:pPr marL="475488" algn="l">
              <a:lnSpc>
                <a:spcPts val="264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GB" sz="2200" b="0" i="1">
                <a:solidFill>
                  <a:srgbClr val="102820"/>
                </a:solidFill>
                <a:latin typeface="GT Ultra Median Lloyds Regular"/>
                <a:ea typeface="GT Ultra Median Lloyds Regular"/>
              </a:rPr>
              <a:t>‘We do not attach much importance to whether the next rate hike comes around the new year […]’</a:t>
            </a:r>
          </a:p>
          <a:p>
            <a:pPr marL="475488" algn="l">
              <a:lnSpc>
                <a:spcPts val="3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sz="2600" b="0" i="0">
                <a:solidFill>
                  <a:srgbClr val="102820"/>
                </a:solidFill>
                <a:latin typeface="Hiragino Sans"/>
                <a:ea typeface="Hiragino Sans"/>
              </a:rPr>
              <a:t>いずれにせよ来年夏頃までには</a:t>
            </a:r>
            <a:r>
              <a:rPr lang="ja-JP" sz="2600" b="1" i="0">
                <a:solidFill>
                  <a:srgbClr val="9B3A18"/>
                </a:solidFill>
                <a:latin typeface="Hiragino Sans"/>
                <a:ea typeface="Hiragino Sans"/>
              </a:rPr>
              <a:t>利上げがあるだろうと考えている</a:t>
            </a:r>
            <a:r>
              <a:rPr lang="ja-JP" sz="2600" b="0" i="0">
                <a:solidFill>
                  <a:srgbClr val="102820"/>
                </a:solidFill>
                <a:latin typeface="Hiragino Sans"/>
                <a:ea typeface="Hiragino Sans"/>
              </a:rPr>
              <a:t>。</a:t>
            </a:r>
            <a:r>
              <a:rPr lang="en-GB" sz="2200" b="1" i="0">
                <a:solidFill>
                  <a:srgbClr val="9B3A18"/>
                </a:solidFill>
                <a:latin typeface="GT Ultra Median Lloyds Regular"/>
                <a:ea typeface="GT Ultra Median Lloyds Regular"/>
              </a:rPr>
              <a:t>   committal</a:t>
            </a:r>
          </a:p>
          <a:p>
            <a:pPr marL="475488" algn="l">
              <a:lnSpc>
                <a:spcPts val="264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GB" sz="2200" b="0" i="1">
                <a:solidFill>
                  <a:srgbClr val="102820"/>
                </a:solidFill>
                <a:latin typeface="GT Ultra Median Lloyds Regular"/>
                <a:ea typeface="GT Ultra Median Lloyds Regular"/>
              </a:rPr>
              <a:t>‘In any case, we think a hike will come by around next summer.’</a:t>
            </a:r>
          </a:p>
          <a:p>
            <a:pPr algn="l">
              <a:lnSpc>
                <a:spcPts val="28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 i="0">
                <a:solidFill>
                  <a:srgbClr val="000000"/>
                </a:solidFill>
                <a:latin typeface="GT Ultra Median Lloyds Regular"/>
                <a:ea typeface="GT Ultra Median Lloyds Regular"/>
              </a:rPr>
              <a:t>Open split, item 34: gold 0 (hedged overall). </a:t>
            </a:r>
            <a:r>
              <a:rPr lang="en-GB" sz="2400" b="0" i="0">
                <a:solidFill>
                  <a:srgbClr val="102820"/>
                </a:solidFill>
                <a:latin typeface="GT Ultra Median Lloyds Regular"/>
                <a:ea typeface="GT Ultra Median Lloyds Regular"/>
              </a:rPr>
              <a:t>The most-committal-span rule returns +1, so Stage 1 applies it only to multi-part questions.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" y="16548214"/>
            <a:ext cx="3246120" cy="36575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88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069080" y="16548214"/>
            <a:ext cx="4983479" cy="36575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8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 i="0">
                <a:solidFill>
                  <a:srgbClr val="000000"/>
                </a:solidFill>
                <a:latin typeface="GT Ultra Median Lloyds Regular"/>
                <a:ea typeface="GT Ultra Median Lloyds Regular"/>
              </a:rPr>
              <a:t>Open split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89720" y="16548214"/>
            <a:ext cx="6355079" cy="36575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8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 i="0">
                <a:solidFill>
                  <a:srgbClr val="000000"/>
                </a:solidFill>
                <a:latin typeface="GT Ultra Median Lloyds Regular"/>
                <a:ea typeface="GT Ultra Median Lloyds Regular"/>
              </a:rPr>
              <a:t>Test split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685800" y="16959694"/>
            <a:ext cx="14996160" cy="0"/>
          </a:xfrm>
          <a:prstGeom prst="line">
            <a:avLst/>
          </a:prstGeom>
          <a:ln w="31750">
            <a:solidFill>
              <a:srgbClr val="7EA8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685800" y="17005414"/>
            <a:ext cx="3246120" cy="36575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8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 i="0">
                <a:solidFill>
                  <a:srgbClr val="005B45"/>
                </a:solidFill>
                <a:latin typeface="GT Ultra Median Lloyds Regular"/>
                <a:ea typeface="GT Ultra Median Lloyds Regular"/>
              </a:rPr>
              <a:t>Items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069080" y="17056214"/>
            <a:ext cx="4983479" cy="36575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8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0" i="0" dirty="0">
                <a:solidFill>
                  <a:srgbClr val="102820"/>
                </a:solidFill>
                <a:latin typeface="GT Ultra Median Lloyds Regular"/>
                <a:ea typeface="GT Ultra Median Lloyds Regular"/>
              </a:rPr>
              <a:t>253 · gold released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89720" y="17056214"/>
            <a:ext cx="6355079" cy="73151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8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0" i="0" dirty="0">
                <a:solidFill>
                  <a:srgbClr val="102820"/>
                </a:solidFill>
                <a:latin typeface="GT Ultra Median Lloyds Regular"/>
                <a:ea typeface="GT Ultra Median Lloyds Regular"/>
              </a:rPr>
              <a:t>50 · gold withheld (15 public + 35 private)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685800" y="17470424"/>
            <a:ext cx="14996160" cy="0"/>
          </a:xfrm>
          <a:prstGeom prst="line">
            <a:avLst/>
          </a:prstGeom>
          <a:ln w="19050">
            <a:solidFill>
              <a:srgbClr val="7EA8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685800" y="17516144"/>
            <a:ext cx="3246120" cy="36575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8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 i="0">
                <a:solidFill>
                  <a:srgbClr val="005B45"/>
                </a:solidFill>
                <a:latin typeface="GT Ultra Median Lloyds Regular"/>
                <a:ea typeface="GT Ultra Median Lloyds Regular"/>
              </a:rPr>
              <a:t>Labels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069080" y="17516144"/>
            <a:ext cx="4983479" cy="36575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8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0" i="0">
                <a:solidFill>
                  <a:srgbClr val="102820"/>
                </a:solidFill>
                <a:latin typeface="GT Ultra Median Lloyds Regular"/>
                <a:ea typeface="GT Ultra Median Lloyds Regular"/>
              </a:rPr>
              <a:t>skewed: +1 is 54.9%, −2 twice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89720" y="17516144"/>
            <a:ext cx="6355079" cy="36575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8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0" i="0">
                <a:solidFill>
                  <a:srgbClr val="102820"/>
                </a:solidFill>
                <a:latin typeface="GT Ultra Median Lloyds Regular"/>
                <a:ea typeface="GT Ultra Median Lloyds Regular"/>
              </a:rPr>
              <a:t>balanced: </a:t>
            </a:r>
            <a:r>
              <a:rPr lang="en-GB" sz="2400" b="1" i="0">
                <a:solidFill>
                  <a:srgbClr val="102820"/>
                </a:solidFill>
                <a:latin typeface="GT Ultra Median Lloyds Regular"/>
                <a:ea typeface="GT Ultra Median Lloyds Regular"/>
              </a:rPr>
              <a:t>10 per label</a:t>
            </a:r>
            <a:r>
              <a:rPr lang="en-GB" sz="2400" b="0" i="0">
                <a:solidFill>
                  <a:srgbClr val="102820"/>
                </a:solidFill>
                <a:latin typeface="GT Ultra Median Lloyds Regular"/>
                <a:ea typeface="GT Ultra Median Lloyds Regular"/>
              </a:rPr>
              <a:t>, published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685800" y="17927624"/>
            <a:ext cx="14996160" cy="0"/>
          </a:xfrm>
          <a:prstGeom prst="line">
            <a:avLst/>
          </a:prstGeom>
          <a:ln w="19050">
            <a:solidFill>
              <a:srgbClr val="7EA8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685800" y="17973344"/>
            <a:ext cx="3246120" cy="36575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8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 i="0">
                <a:solidFill>
                  <a:srgbClr val="005B45"/>
                </a:solidFill>
                <a:latin typeface="GT Ultra Median Lloyds Regular"/>
                <a:ea typeface="GT Ultra Median Lloyds Regular"/>
              </a:rPr>
              <a:t>Q–R form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069080" y="17973344"/>
            <a:ext cx="4983479" cy="36575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8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0" i="0">
                <a:solidFill>
                  <a:srgbClr val="102820"/>
                </a:solidFill>
                <a:latin typeface="GT Ultra Median Lloyds Regular"/>
                <a:ea typeface="GT Ultra Median Lloyds Regular"/>
              </a:rPr>
              <a:t>502 chars; ≈25% multi-part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89720" y="17973344"/>
            <a:ext cx="6355079" cy="36575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8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0" i="0">
                <a:solidFill>
                  <a:srgbClr val="102820"/>
                </a:solidFill>
                <a:latin typeface="GT Ultra Median Lloyds Regular"/>
                <a:ea typeface="GT Ultra Median Lloyds Regular"/>
              </a:rPr>
              <a:t>200 chars; single-sentence questions</a:t>
            </a:r>
          </a:p>
        </p:txBody>
      </p:sp>
      <p:sp>
        <p:nvSpPr>
          <p:cNvPr id="54" name="Oval 53"/>
          <p:cNvSpPr/>
          <p:nvPr/>
        </p:nvSpPr>
        <p:spPr>
          <a:xfrm>
            <a:off x="685800" y="19303238"/>
            <a:ext cx="786384" cy="786384"/>
          </a:xfrm>
          <a:prstGeom prst="ellipse">
            <a:avLst/>
          </a:prstGeom>
          <a:solidFill>
            <a:srgbClr val="005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400" b="1" i="0">
                <a:solidFill>
                  <a:srgbClr val="FFFFFF"/>
                </a:solidFill>
                <a:latin typeface="GT Ultra Lloyds Regular"/>
                <a:ea typeface="GT Ultra Lloyds Regular"/>
              </a:rPr>
              <a:t>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728216" y="19321526"/>
            <a:ext cx="13953744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4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0" b="1" i="0">
                <a:solidFill>
                  <a:srgbClr val="000000"/>
                </a:solidFill>
                <a:latin typeface="GT Ultra Lloyds Regular"/>
                <a:ea typeface="GT Ultra Lloyds Regular"/>
              </a:rPr>
              <a:t>Method: label → audit → re-ask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85800" y="20290790"/>
            <a:ext cx="14996160" cy="426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b="0" i="0" dirty="0">
                <a:solidFill>
                  <a:srgbClr val="102820"/>
                </a:solidFill>
                <a:latin typeface="GT Ultra Median Lloyds Regular"/>
                <a:ea typeface="GT Ultra Median Lloyds Regular"/>
              </a:rPr>
              <a:t>One open-weight LLM, zero-shot; nothing is trained on the 50 test items.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85800" y="21230167"/>
            <a:ext cx="2651760" cy="1363421"/>
          </a:xfrm>
          <a:prstGeom prst="roundRect">
            <a:avLst>
              <a:gd name="adj" fmla="val 11612"/>
            </a:avLst>
          </a:prstGeom>
          <a:solidFill>
            <a:srgbClr val="005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ts val="4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400" b="1" i="0" dirty="0">
                <a:solidFill>
                  <a:srgbClr val="FFFFFF"/>
                </a:solidFill>
                <a:latin typeface="GT Ultra Lloyds Regular"/>
                <a:ea typeface="GT Ultra Lloyds Regular"/>
              </a:rPr>
              <a:t>1</a:t>
            </a:r>
          </a:p>
          <a:p>
            <a:pPr algn="ctr">
              <a:lnSpc>
                <a:spcPts val="28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 b="1" i="0" dirty="0">
                <a:solidFill>
                  <a:srgbClr val="FFFFFF"/>
                </a:solidFill>
                <a:latin typeface="GT Ultra Lloyds Regular"/>
                <a:ea typeface="GT Ultra Lloyds Regular"/>
              </a:rPr>
              <a:t>LABEL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657600" y="21293074"/>
            <a:ext cx="12024360" cy="164083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GB" sz="2800" b="1" i="0" dirty="0">
                <a:solidFill>
                  <a:srgbClr val="000000"/>
                </a:solidFill>
                <a:latin typeface="GT Ultra Median Lloyds Regular"/>
                <a:ea typeface="GT Ultra Median Lloyds Regular"/>
              </a:rPr>
              <a:t>Verbaliser scoring</a:t>
            </a:r>
          </a:p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 b="0" i="0" dirty="0">
                <a:solidFill>
                  <a:srgbClr val="102820"/>
                </a:solidFill>
                <a:latin typeface="GT Ultra Median Lloyds Regular"/>
                <a:ea typeface="GT Ultra Median Lloyds Regular"/>
              </a:rPr>
              <a:t>Teacher-force each label string </a:t>
            </a:r>
            <a:r>
              <a:rPr lang="en-GB" sz="2600" b="0" i="0" dirty="0" err="1">
                <a:solidFill>
                  <a:srgbClr val="102820"/>
                </a:solidFill>
                <a:latin typeface="GT Ultra Median Lloyds Regular"/>
                <a:ea typeface="GT Ultra Median Lloyds Regular"/>
              </a:rPr>
              <a:t>v</a:t>
            </a:r>
            <a:r>
              <a:rPr lang="en-GB" sz="2600" b="0" i="0" baseline="-25000" dirty="0" err="1">
                <a:solidFill>
                  <a:srgbClr val="102820"/>
                </a:solidFill>
                <a:latin typeface="GT Ultra Median Lloyds Regular"/>
                <a:ea typeface="GT Ultra Median Lloyds Regular"/>
              </a:rPr>
              <a:t>y</a:t>
            </a:r>
            <a:r>
              <a:rPr lang="en-GB" sz="2600" b="0" i="0" dirty="0">
                <a:solidFill>
                  <a:srgbClr val="102820"/>
                </a:solidFill>
                <a:latin typeface="GT Ultra Median Lloyds Regular"/>
                <a:ea typeface="GT Ultra Median Lloyds Regular"/>
              </a:rPr>
              <a:t>; P(y | x) = </a:t>
            </a:r>
            <a:r>
              <a:rPr lang="en-GB" sz="2600" b="0" i="0" dirty="0" err="1">
                <a:solidFill>
                  <a:srgbClr val="102820"/>
                </a:solidFill>
                <a:latin typeface="GT Ultra Median Lloyds Regular"/>
                <a:ea typeface="GT Ultra Median Lloyds Regular"/>
              </a:rPr>
              <a:t>softmax</a:t>
            </a:r>
            <a:r>
              <a:rPr lang="en-GB" sz="2600" b="0" i="0" baseline="-25000" dirty="0" err="1">
                <a:solidFill>
                  <a:srgbClr val="102820"/>
                </a:solidFill>
                <a:latin typeface="GT Ultra Median Lloyds Regular"/>
                <a:ea typeface="GT Ultra Median Lloyds Regular"/>
              </a:rPr>
              <a:t>y</a:t>
            </a:r>
            <a:r>
              <a:rPr lang="en-GB" sz="2600" b="0" i="0" dirty="0">
                <a:solidFill>
                  <a:srgbClr val="102820"/>
                </a:solidFill>
                <a:latin typeface="GT Ultra Median Lloyds Regular"/>
                <a:ea typeface="GT Ultra Median Lloyds Regular"/>
              </a:rPr>
              <a:t> log </a:t>
            </a:r>
            <a:r>
              <a:rPr lang="en-GB" sz="2600" b="0" i="0" dirty="0" err="1">
                <a:solidFill>
                  <a:srgbClr val="102820"/>
                </a:solidFill>
                <a:latin typeface="GT Ultra Median Lloyds Regular"/>
                <a:ea typeface="GT Ultra Median Lloyds Regular"/>
              </a:rPr>
              <a:t>p</a:t>
            </a:r>
            <a:r>
              <a:rPr lang="en-GB" sz="2600" b="0" i="0" baseline="-25000" dirty="0" err="1">
                <a:solidFill>
                  <a:srgbClr val="102820"/>
                </a:solidFill>
                <a:latin typeface="GT Ultra Median Lloyds Regular"/>
                <a:ea typeface="GT Ultra Median Lloyds Regular"/>
              </a:rPr>
              <a:t>θ</a:t>
            </a:r>
            <a:r>
              <a:rPr lang="en-GB" sz="2600" b="0" i="0" dirty="0">
                <a:solidFill>
                  <a:srgbClr val="102820"/>
                </a:solidFill>
                <a:latin typeface="GT Ultra Median Lloyds Regular"/>
                <a:ea typeface="GT Ultra Median Lloyds Regular"/>
              </a:rPr>
              <a:t>(</a:t>
            </a:r>
            <a:r>
              <a:rPr lang="en-GB" sz="2600" b="0" i="0" dirty="0" err="1">
                <a:solidFill>
                  <a:srgbClr val="102820"/>
                </a:solidFill>
                <a:latin typeface="GT Ultra Median Lloyds Regular"/>
                <a:ea typeface="GT Ultra Median Lloyds Regular"/>
              </a:rPr>
              <a:t>v</a:t>
            </a:r>
            <a:r>
              <a:rPr lang="en-GB" sz="2600" b="0" i="0" baseline="-25000" dirty="0" err="1">
                <a:solidFill>
                  <a:srgbClr val="102820"/>
                </a:solidFill>
                <a:latin typeface="GT Ultra Median Lloyds Regular"/>
                <a:ea typeface="GT Ultra Median Lloyds Regular"/>
              </a:rPr>
              <a:t>y</a:t>
            </a:r>
            <a:r>
              <a:rPr lang="en-GB" sz="2600" b="0" i="0" dirty="0">
                <a:solidFill>
                  <a:srgbClr val="102820"/>
                </a:solidFill>
                <a:latin typeface="GT Ultra Median Lloyds Regular"/>
                <a:ea typeface="GT Ultra Median Lloyds Regular"/>
              </a:rPr>
              <a:t> | x); take the argmax. Prompt: EBISU guidelines + a scope rule for multi-part questions.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85800" y="22556203"/>
            <a:ext cx="2651760" cy="5318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 b="1" i="0" dirty="0">
                <a:solidFill>
                  <a:srgbClr val="005B45"/>
                </a:solidFill>
                <a:latin typeface="GT Ultra Lloyds Regular"/>
                <a:ea typeface="GT Ultra Lloyds Regular"/>
              </a:rPr>
              <a:t>↓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85800" y="22973005"/>
            <a:ext cx="2651760" cy="1371600"/>
          </a:xfrm>
          <a:prstGeom prst="roundRect">
            <a:avLst>
              <a:gd name="adj" fmla="val 14666"/>
            </a:avLst>
          </a:prstGeom>
          <a:solidFill>
            <a:srgbClr val="008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ts val="4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400" b="1" i="0">
                <a:solidFill>
                  <a:srgbClr val="FFFFFF"/>
                </a:solidFill>
                <a:latin typeface="GT Ultra Lloyds Regular"/>
                <a:ea typeface="GT Ultra Lloyds Regular"/>
              </a:rPr>
              <a:t>2</a:t>
            </a:r>
          </a:p>
          <a:p>
            <a:pPr algn="ctr">
              <a:lnSpc>
                <a:spcPts val="28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 b="1" i="0">
                <a:solidFill>
                  <a:srgbClr val="FFFFFF"/>
                </a:solidFill>
                <a:latin typeface="GT Ultra Lloyds Regular"/>
                <a:ea typeface="GT Ultra Lloyds Regular"/>
              </a:rPr>
              <a:t>AUDIT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642784" y="23082756"/>
            <a:ext cx="12024360" cy="1244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GB" sz="2800" b="1" i="0" dirty="0">
                <a:solidFill>
                  <a:srgbClr val="000000"/>
                </a:solidFill>
                <a:latin typeface="GT Ultra Median Lloyds Regular"/>
                <a:ea typeface="GT Ultra Median Lloyds Regular"/>
              </a:rPr>
              <a:t>Quota audit</a:t>
            </a:r>
          </a:p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 b="0" i="0" dirty="0">
                <a:solidFill>
                  <a:srgbClr val="102820"/>
                </a:solidFill>
                <a:latin typeface="GT Ultra Median Lloyds Regular"/>
                <a:ea typeface="GT Ultra Median Lloyds Regular"/>
              </a:rPr>
              <a:t>Count </a:t>
            </a:r>
            <a:r>
              <a:rPr lang="en-GB" sz="2600" b="0" i="0" dirty="0" err="1">
                <a:solidFill>
                  <a:srgbClr val="102820"/>
                </a:solidFill>
                <a:latin typeface="GT Ultra Median Lloyds Regular"/>
                <a:ea typeface="GT Ultra Median Lloyds Regular"/>
              </a:rPr>
              <a:t>n</a:t>
            </a:r>
            <a:r>
              <a:rPr lang="en-GB" sz="2600" b="0" i="0" baseline="-25000" dirty="0" err="1">
                <a:solidFill>
                  <a:srgbClr val="102820"/>
                </a:solidFill>
                <a:latin typeface="GT Ultra Median Lloyds Regular"/>
                <a:ea typeface="GT Ultra Median Lloyds Regular"/>
              </a:rPr>
              <a:t>y</a:t>
            </a:r>
            <a:r>
              <a:rPr lang="en-GB" sz="2600" b="0" i="0" dirty="0">
                <a:solidFill>
                  <a:srgbClr val="102820"/>
                </a:solidFill>
                <a:latin typeface="GT Ultra Median Lloyds Regular"/>
                <a:ea typeface="GT Ultra Median Lloyds Regular"/>
              </a:rPr>
              <a:t> per class against the published </a:t>
            </a:r>
            <a:r>
              <a:rPr lang="en-GB" sz="2600" b="0" i="0" dirty="0" err="1">
                <a:solidFill>
                  <a:srgbClr val="102820"/>
                </a:solidFill>
                <a:latin typeface="GT Ultra Median Lloyds Regular"/>
                <a:ea typeface="GT Ultra Median Lloyds Regular"/>
              </a:rPr>
              <a:t>q</a:t>
            </a:r>
            <a:r>
              <a:rPr lang="en-GB" sz="2600" b="0" i="0" baseline="-25000" dirty="0" err="1">
                <a:solidFill>
                  <a:srgbClr val="102820"/>
                </a:solidFill>
                <a:latin typeface="GT Ultra Median Lloyds Regular"/>
                <a:ea typeface="GT Ultra Median Lloyds Regular"/>
              </a:rPr>
              <a:t>y</a:t>
            </a:r>
            <a:r>
              <a:rPr lang="en-GB" sz="2600" b="0" i="0" dirty="0">
                <a:solidFill>
                  <a:srgbClr val="102820"/>
                </a:solidFill>
                <a:latin typeface="GT Ultra Median Lloyds Regular"/>
                <a:ea typeface="GT Ultra Median Lloyds Regular"/>
              </a:rPr>
              <a:t> = 10 → error floor F, over-full set O, under-full set U (panel 3). Changes no label.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85800" y="24424894"/>
            <a:ext cx="2651760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 b="1" i="0" dirty="0">
                <a:solidFill>
                  <a:srgbClr val="005B45"/>
                </a:solidFill>
                <a:latin typeface="GT Ultra Lloyds Regular"/>
                <a:ea typeface="GT Ultra Lloyds Regular"/>
              </a:rPr>
              <a:t>↓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85800" y="24754077"/>
            <a:ext cx="2651760" cy="1371600"/>
          </a:xfrm>
          <a:prstGeom prst="roundRect">
            <a:avLst>
              <a:gd name="adj" fmla="val 14666"/>
            </a:avLst>
          </a:prstGeom>
          <a:solidFill>
            <a:srgbClr val="11B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ts val="4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400" b="1" i="0">
                <a:solidFill>
                  <a:srgbClr val="FFFFFF"/>
                </a:solidFill>
                <a:latin typeface="GT Ultra Lloyds Regular"/>
                <a:ea typeface="GT Ultra Lloyds Regular"/>
              </a:rPr>
              <a:t>3</a:t>
            </a:r>
          </a:p>
          <a:p>
            <a:pPr algn="ctr">
              <a:lnSpc>
                <a:spcPts val="28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 b="1" i="0">
                <a:solidFill>
                  <a:srgbClr val="FFFFFF"/>
                </a:solidFill>
                <a:latin typeface="GT Ultra Lloyds Regular"/>
                <a:ea typeface="GT Ultra Lloyds Regular"/>
              </a:rPr>
              <a:t>RE-ASK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657600" y="24817577"/>
            <a:ext cx="12024360" cy="1244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GB" sz="2800" b="1" i="0">
                <a:solidFill>
                  <a:srgbClr val="000000"/>
                </a:solidFill>
                <a:latin typeface="GT Ultra Median Lloyds Regular"/>
                <a:ea typeface="GT Ultra Median Lloyds Regular"/>
              </a:rPr>
              <a:t>Forced-choice adjudication</a:t>
            </a:r>
          </a:p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 b="0" i="0">
                <a:solidFill>
                  <a:srgbClr val="102820"/>
                </a:solidFill>
                <a:latin typeface="GT Ultra Median Lloyds Regular"/>
                <a:ea typeface="GT Ultra Median Lloyds Regular"/>
              </a:rPr>
              <a:t>For each over-full bucket, ask which s = n</a:t>
            </a:r>
            <a:r>
              <a:rPr lang="en-GB" sz="2600" b="0" i="0" baseline="-25000">
                <a:solidFill>
                  <a:srgbClr val="102820"/>
                </a:solidFill>
                <a:latin typeface="GT Ultra Median Lloyds Regular"/>
                <a:ea typeface="GT Ultra Median Lloyds Regular"/>
              </a:rPr>
              <a:t>y</a:t>
            </a:r>
            <a:r>
              <a:rPr lang="en-GB" sz="2600" b="0" i="0">
                <a:solidFill>
                  <a:srgbClr val="102820"/>
                </a:solidFill>
                <a:latin typeface="GT Ultra Median Lloyds Regular"/>
                <a:ea typeface="GT Ultra Median Lloyds Regular"/>
              </a:rPr>
              <a:t> − q</a:t>
            </a:r>
            <a:r>
              <a:rPr lang="en-GB" sz="2600" b="0" i="0" baseline="-25000">
                <a:solidFill>
                  <a:srgbClr val="102820"/>
                </a:solidFill>
                <a:latin typeface="GT Ultra Median Lloyds Regular"/>
                <a:ea typeface="GT Ultra Median Lloyds Regular"/>
              </a:rPr>
              <a:t>y</a:t>
            </a:r>
            <a:r>
              <a:rPr lang="en-GB" sz="2600" b="0" i="0">
                <a:solidFill>
                  <a:srgbClr val="102820"/>
                </a:solidFill>
                <a:latin typeface="GT Ultra Median Lloyds Regular"/>
                <a:ea typeface="GT Ultra Median Lloyds Regular"/>
              </a:rPr>
              <a:t> items are wrong and where each goes in U; five rotated orderings, majority vote (panel 4).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85800" y="26308557"/>
            <a:ext cx="14996160" cy="396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 b="1" i="0">
                <a:solidFill>
                  <a:srgbClr val="005B45"/>
                </a:solidFill>
                <a:latin typeface="GT Ultra Median Lloyds Regular"/>
                <a:ea typeface="GT Ultra Median Lloyds Regular"/>
              </a:rPr>
              <a:t>Re-audit: </a:t>
            </a:r>
            <a:r>
              <a:rPr lang="en-GB" sz="2600" b="1" i="0">
                <a:solidFill>
                  <a:srgbClr val="102820"/>
                </a:solidFill>
                <a:latin typeface="GT Ultra Median Lloyds Regular"/>
                <a:ea typeface="GT Ultra Median Lloyds Regular"/>
              </a:rPr>
              <a:t>write the submission only if F = 0; otherwise abort.</a:t>
            </a:r>
          </a:p>
        </p:txBody>
      </p:sp>
      <p:sp>
        <p:nvSpPr>
          <p:cNvPr id="67" name="Oval 66"/>
          <p:cNvSpPr/>
          <p:nvPr/>
        </p:nvSpPr>
        <p:spPr>
          <a:xfrm>
            <a:off x="685800" y="27600909"/>
            <a:ext cx="786384" cy="786384"/>
          </a:xfrm>
          <a:prstGeom prst="ellipse">
            <a:avLst/>
          </a:prstGeom>
          <a:solidFill>
            <a:srgbClr val="005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400" b="1" i="0">
                <a:solidFill>
                  <a:srgbClr val="FFFFFF"/>
                </a:solidFill>
                <a:latin typeface="GT Ultra Lloyds Regular"/>
                <a:ea typeface="GT Ultra Lloyds Regular"/>
              </a:rPr>
              <a:t>3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728216" y="27619197"/>
            <a:ext cx="13953744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4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0" b="1" i="0">
                <a:solidFill>
                  <a:srgbClr val="000000"/>
                </a:solidFill>
                <a:latin typeface="GT Ultra Lloyds Regular"/>
                <a:ea typeface="GT Ultra Lloyds Regular"/>
              </a:rPr>
              <a:t>The quota as a certificate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85800" y="28588461"/>
            <a:ext cx="7315200" cy="1143000"/>
          </a:xfrm>
          <a:prstGeom prst="roundRect">
            <a:avLst>
              <a:gd name="adj" fmla="val 176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685800" y="28588461"/>
            <a:ext cx="7315200" cy="1143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50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600" b="0" i="1">
                <a:solidFill>
                  <a:srgbClr val="102820"/>
                </a:solidFill>
                <a:latin typeface="Cambria Math"/>
                <a:ea typeface="Cambria Math"/>
              </a:rPr>
              <a:t>F</a:t>
            </a:r>
            <a:r>
              <a:rPr lang="en-GB" sz="4600" b="0" i="0">
                <a:solidFill>
                  <a:srgbClr val="102820"/>
                </a:solidFill>
                <a:latin typeface="Cambria Math"/>
                <a:ea typeface="Cambria Math"/>
              </a:rPr>
              <a:t> = Σ</a:t>
            </a:r>
            <a:r>
              <a:rPr lang="en-GB" sz="4600" b="0" i="1" baseline="-25000">
                <a:solidFill>
                  <a:srgbClr val="102820"/>
                </a:solidFill>
                <a:latin typeface="Cambria Math"/>
                <a:ea typeface="Cambria Math"/>
              </a:rPr>
              <a:t>y</a:t>
            </a:r>
            <a:r>
              <a:rPr lang="en-GB" sz="4600" b="0" i="0">
                <a:solidFill>
                  <a:srgbClr val="102820"/>
                </a:solidFill>
                <a:latin typeface="Cambria Math"/>
                <a:ea typeface="Cambria Math"/>
              </a:rPr>
              <a:t> max(0, </a:t>
            </a:r>
            <a:r>
              <a:rPr lang="en-GB" sz="4600" b="0" i="1">
                <a:solidFill>
                  <a:srgbClr val="102820"/>
                </a:solidFill>
                <a:latin typeface="Cambria Math"/>
                <a:ea typeface="Cambria Math"/>
              </a:rPr>
              <a:t>n</a:t>
            </a:r>
            <a:r>
              <a:rPr lang="en-GB" sz="4600" b="0" i="1" baseline="-25000">
                <a:solidFill>
                  <a:srgbClr val="102820"/>
                </a:solidFill>
                <a:latin typeface="Cambria Math"/>
                <a:ea typeface="Cambria Math"/>
              </a:rPr>
              <a:t>y</a:t>
            </a:r>
            <a:r>
              <a:rPr lang="en-GB" sz="4600" b="0" i="0">
                <a:solidFill>
                  <a:srgbClr val="102820"/>
                </a:solidFill>
                <a:latin typeface="Cambria Math"/>
                <a:ea typeface="Cambria Math"/>
              </a:rPr>
              <a:t> − </a:t>
            </a:r>
            <a:r>
              <a:rPr lang="en-GB" sz="4600" b="0" i="1">
                <a:solidFill>
                  <a:srgbClr val="102820"/>
                </a:solidFill>
                <a:latin typeface="Cambria Math"/>
                <a:ea typeface="Cambria Math"/>
              </a:rPr>
              <a:t>q</a:t>
            </a:r>
            <a:r>
              <a:rPr lang="en-GB" sz="4600" b="0" i="1" baseline="-25000">
                <a:solidFill>
                  <a:srgbClr val="102820"/>
                </a:solidFill>
                <a:latin typeface="Cambria Math"/>
                <a:ea typeface="Cambria Math"/>
              </a:rPr>
              <a:t>y</a:t>
            </a:r>
            <a:r>
              <a:rPr lang="en-GB" sz="4600" b="0" i="0">
                <a:solidFill>
                  <a:srgbClr val="102820"/>
                </a:solidFill>
                <a:latin typeface="Cambria Math"/>
                <a:ea typeface="Cambria Math"/>
              </a:rPr>
              <a:t>)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275320" y="28588461"/>
            <a:ext cx="7406640" cy="1143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 b="0" i="0">
                <a:solidFill>
                  <a:srgbClr val="102820"/>
                </a:solidFill>
                <a:latin typeface="GT Ultra Median Lloyds Regular"/>
                <a:ea typeface="GT Ultra Median Lloyds Regular"/>
              </a:rPr>
              <a:t>No labelling with these class counts has fewer than F errors: a </a:t>
            </a:r>
            <a:r>
              <a:rPr lang="en-GB" sz="2500" b="1" i="0">
                <a:solidFill>
                  <a:srgbClr val="102820"/>
                </a:solidFill>
                <a:latin typeface="GT Ultra Median Lloyds Regular"/>
                <a:ea typeface="GT Ultra Median Lloyds Regular"/>
              </a:rPr>
              <a:t>certificate</a:t>
            </a:r>
            <a:r>
              <a:rPr lang="en-GB" sz="2500" b="0" i="0">
                <a:solidFill>
                  <a:srgbClr val="102820"/>
                </a:solidFill>
                <a:latin typeface="GT Ultra Median Lloyds Regular"/>
                <a:ea typeface="GT Ultra Median Lloyds Regular"/>
              </a:rPr>
              <a:t>, computed before any label is seen.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85800" y="30005781"/>
            <a:ext cx="7315200" cy="3303676"/>
          </a:xfrm>
          <a:prstGeom prst="roundRect">
            <a:avLst>
              <a:gd name="adj" fmla="val 608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960120" y="30188661"/>
            <a:ext cx="6804837" cy="36575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8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 i="1">
                <a:solidFill>
                  <a:srgbClr val="102820"/>
                </a:solidFill>
                <a:latin typeface="GT Ultra Median Lloyds Regular"/>
                <a:ea typeface="GT Ultra Median Lloyds Regular"/>
              </a:rPr>
              <a:t>n</a:t>
            </a:r>
            <a:r>
              <a:rPr lang="en-GB" sz="2400" b="1" i="0" baseline="-25000">
                <a:solidFill>
                  <a:srgbClr val="102820"/>
                </a:solidFill>
                <a:latin typeface="GT Ultra Median Lloyds Regular"/>
                <a:ea typeface="GT Ultra Median Lloyds Regular"/>
              </a:rPr>
              <a:t>y</a:t>
            </a:r>
            <a:r>
              <a:rPr lang="en-GB" sz="2400" b="1" i="0">
                <a:solidFill>
                  <a:srgbClr val="102820"/>
                </a:solidFill>
                <a:latin typeface="GT Ultra Median Lloyds Regular"/>
                <a:ea typeface="GT Ultra Median Lloyds Regular"/>
              </a:rPr>
              <a:t> − q</a:t>
            </a:r>
            <a:r>
              <a:rPr lang="en-GB" sz="2400" b="1" i="0" baseline="-25000">
                <a:solidFill>
                  <a:srgbClr val="102820"/>
                </a:solidFill>
                <a:latin typeface="GT Ultra Median Lloyds Regular"/>
                <a:ea typeface="GT Ultra Median Lloyds Regular"/>
              </a:rPr>
              <a:t>y</a:t>
            </a:r>
            <a:r>
              <a:rPr lang="en-GB" sz="2400" b="1" i="0">
                <a:solidFill>
                  <a:srgbClr val="102820"/>
                </a:solidFill>
                <a:latin typeface="GT Ultra Median Lloyds Regular"/>
                <a:ea typeface="GT Ultra Median Lloyds Regular"/>
              </a:rPr>
              <a:t> per class</a:t>
            </a:r>
          </a:p>
        </p:txBody>
      </p:sp>
      <p:graphicFrame>
        <p:nvGraphicFramePr>
          <p:cNvPr id="74" name="Quota char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7840343"/>
              </p:ext>
            </p:extLst>
          </p:nvPr>
        </p:nvGraphicFramePr>
        <p:xfrm>
          <a:off x="822961" y="30645861"/>
          <a:ext cx="7060018" cy="25264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75" name="TextBox 74"/>
          <p:cNvSpPr txBox="1"/>
          <p:nvPr/>
        </p:nvSpPr>
        <p:spPr>
          <a:xfrm>
            <a:off x="8275320" y="30225060"/>
            <a:ext cx="7406640" cy="2865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88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2400" b="1" i="0" dirty="0">
                <a:solidFill>
                  <a:srgbClr val="000000"/>
                </a:solidFill>
                <a:latin typeface="GT Ultra Median Lloyds Regular"/>
                <a:ea typeface="GT Ultra Median Lloyds Regular"/>
              </a:rPr>
              <a:t>Released Stage 1 rerun: </a:t>
            </a:r>
            <a:r>
              <a:rPr lang="en-GB" sz="2400" b="0" i="0" dirty="0">
                <a:solidFill>
                  <a:srgbClr val="102820"/>
                </a:solidFill>
                <a:latin typeface="GT Ultra Median Lloyds Regular"/>
                <a:ea typeface="GT Ultra Median Lloyds Regular"/>
              </a:rPr>
              <a:t>counts 11 · 12 · 9 · 8 · 10</a:t>
            </a:r>
          </a:p>
          <a:p>
            <a:pPr algn="l">
              <a:lnSpc>
                <a:spcPts val="288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2400" b="1" i="0" dirty="0">
                <a:solidFill>
                  <a:srgbClr val="005B45"/>
                </a:solidFill>
                <a:latin typeface="GT Ultra Median Lloyds Regular"/>
                <a:ea typeface="GT Ultra Median Lloyds Regular"/>
              </a:rPr>
              <a:t>O = {+2, +1}</a:t>
            </a:r>
            <a:r>
              <a:rPr lang="en-GB" sz="2400" b="0" i="0" dirty="0">
                <a:solidFill>
                  <a:srgbClr val="102820"/>
                </a:solidFill>
                <a:latin typeface="GT Ultra Median Lloyds Regular"/>
                <a:ea typeface="GT Ultra Median Lloyds Regular"/>
              </a:rPr>
              <a:t>: surplus 1 + 2, so </a:t>
            </a:r>
            <a:r>
              <a:rPr lang="en-GB" sz="2400" b="1" i="0" dirty="0">
                <a:solidFill>
                  <a:srgbClr val="9B3A18"/>
                </a:solidFill>
                <a:latin typeface="GT Ultra Median Lloyds Regular"/>
                <a:ea typeface="GT Ultra Median Lloyds Regular"/>
              </a:rPr>
              <a:t>F = 3</a:t>
            </a:r>
          </a:p>
          <a:p>
            <a:pPr algn="l">
              <a:lnSpc>
                <a:spcPts val="288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2400" b="1" i="0" dirty="0">
                <a:solidFill>
                  <a:srgbClr val="005B45"/>
                </a:solidFill>
                <a:latin typeface="GT Ultra Median Lloyds Regular"/>
                <a:ea typeface="GT Ultra Median Lloyds Regular"/>
              </a:rPr>
              <a:t>U = {0, −1}</a:t>
            </a:r>
            <a:r>
              <a:rPr lang="en-GB" sz="2400" b="0" i="0" dirty="0">
                <a:solidFill>
                  <a:srgbClr val="102820"/>
                </a:solidFill>
                <a:latin typeface="GT Ultra Median Lloyds Regular"/>
                <a:ea typeface="GT Ultra Median Lloyds Regular"/>
              </a:rPr>
              <a:t>: where the surplus can go</a:t>
            </a:r>
          </a:p>
          <a:p>
            <a:pPr algn="l">
              <a:lnSpc>
                <a:spcPts val="288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2400" b="1" i="0" dirty="0">
                <a:solidFill>
                  <a:srgbClr val="005B45"/>
                </a:solidFill>
                <a:latin typeface="GT Ultra Median Lloyds Regular"/>
                <a:ea typeface="GT Ultra Median Lloyds Regular"/>
              </a:rPr>
              <a:t>Audit surface</a:t>
            </a:r>
            <a:r>
              <a:rPr lang="en-GB" sz="2400" b="0" i="0" dirty="0">
                <a:solidFill>
                  <a:srgbClr val="102820"/>
                </a:solidFill>
                <a:latin typeface="GT Ultra Median Lloyds Regular"/>
                <a:ea typeface="GT Ultra Median Lloyds Regular"/>
              </a:rPr>
              <a:t>: 11 + 12 = 23 of 50 items</a:t>
            </a:r>
          </a:p>
          <a:p>
            <a:pPr algn="l">
              <a:lnSpc>
                <a:spcPts val="28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 i="0" dirty="0">
                <a:solidFill>
                  <a:srgbClr val="005B45"/>
                </a:solidFill>
                <a:latin typeface="GT Ultra Median Lloyds Regular"/>
                <a:ea typeface="GT Ultra Median Lloyds Regular"/>
              </a:rPr>
              <a:t>Uploaded run</a:t>
            </a:r>
            <a:r>
              <a:rPr lang="en-GB" sz="2400" b="0" i="0" dirty="0">
                <a:solidFill>
                  <a:srgbClr val="102820"/>
                </a:solidFill>
                <a:latin typeface="GT Ultra Median Lloyds Regular"/>
                <a:ea typeface="GT Ultra Median Lloyds Regular"/>
              </a:rPr>
              <a:t>: 11 · 10 · 9 · 10 · 10, so F = 1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85800" y="33629498"/>
            <a:ext cx="7223760" cy="1960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2600" b="1" i="0">
                <a:solidFill>
                  <a:srgbClr val="005B45"/>
                </a:solidFill>
                <a:latin typeface="GT Ultra Lloyds Regular"/>
                <a:ea typeface="GT Ultra Lloyds Regular"/>
              </a:rPr>
              <a:t>SEES</a:t>
            </a:r>
          </a:p>
          <a:p>
            <a:pPr marL="384048" indent="-384048" algn="l">
              <a:lnSpc>
                <a:spcPts val="2880"/>
              </a:lnSpc>
              <a:spcBef>
                <a:spcPts val="0"/>
              </a:spcBef>
              <a:spcAft>
                <a:spcPts val="400"/>
              </a:spcAft>
              <a:buClr>
                <a:srgbClr val="005B45"/>
              </a:buClr>
              <a:buSzPct val="80000"/>
              <a:buFont typeface="Arial"/>
              <a:buChar char="■"/>
            </a:pPr>
            <a:r>
              <a:rPr lang="en-GB" sz="2400" b="0" i="0">
                <a:solidFill>
                  <a:srgbClr val="102820"/>
                </a:solidFill>
                <a:latin typeface="GT Ultra Median Lloyds Regular"/>
                <a:ea typeface="GT Ultra Median Lloyds Regular"/>
              </a:rPr>
              <a:t>every error that changes a class count</a:t>
            </a:r>
          </a:p>
          <a:p>
            <a:pPr marL="384048" indent="-384048" algn="l">
              <a:lnSpc>
                <a:spcPts val="2880"/>
              </a:lnSpc>
              <a:spcBef>
                <a:spcPts val="0"/>
              </a:spcBef>
              <a:spcAft>
                <a:spcPts val="0"/>
              </a:spcAft>
              <a:buClr>
                <a:srgbClr val="005B45"/>
              </a:buClr>
              <a:buSzPct val="80000"/>
              <a:buFont typeface="Arial"/>
              <a:buChar char="■"/>
            </a:pPr>
            <a:r>
              <a:rPr lang="en-GB" sz="2400" b="0" i="0">
                <a:solidFill>
                  <a:srgbClr val="102820"/>
                </a:solidFill>
                <a:latin typeface="GT Ultra Median Lloyds Regular"/>
                <a:ea typeface="GT Ultra Median Lloyds Regular"/>
              </a:rPr>
              <a:t>which buckets hold the surplus, and where it can go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8183880" y="33675218"/>
            <a:ext cx="0" cy="1915160"/>
          </a:xfrm>
          <a:prstGeom prst="line">
            <a:avLst/>
          </a:prstGeom>
          <a:ln w="19050">
            <a:solidFill>
              <a:srgbClr val="7EA8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8458200" y="33629498"/>
            <a:ext cx="7223760" cy="1960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2600" b="1" i="0">
                <a:solidFill>
                  <a:srgbClr val="9B3A18"/>
                </a:solidFill>
                <a:latin typeface="GT Ultra Lloyds Regular"/>
                <a:ea typeface="GT Ultra Lloyds Regular"/>
              </a:rPr>
              <a:t>MISSES</a:t>
            </a:r>
          </a:p>
          <a:p>
            <a:pPr marL="384048" indent="-384048" algn="l">
              <a:lnSpc>
                <a:spcPts val="2880"/>
              </a:lnSpc>
              <a:spcBef>
                <a:spcPts val="0"/>
              </a:spcBef>
              <a:spcAft>
                <a:spcPts val="400"/>
              </a:spcAft>
              <a:buClr>
                <a:srgbClr val="005B45"/>
              </a:buClr>
              <a:buSzPct val="80000"/>
              <a:buFont typeface="Arial"/>
              <a:buChar char="■"/>
            </a:pPr>
            <a:r>
              <a:rPr lang="en-GB" sz="2400" b="0" i="0">
                <a:solidFill>
                  <a:srgbClr val="102820"/>
                </a:solidFill>
                <a:latin typeface="GT Ultra Median Lloyds Regular"/>
                <a:ea typeface="GT Ultra Median Lloyds Regular"/>
              </a:rPr>
              <a:t>which item inside a flagged bucket is wrong</a:t>
            </a:r>
          </a:p>
          <a:p>
            <a:pPr marL="384048" indent="-384048" algn="l">
              <a:lnSpc>
                <a:spcPts val="2880"/>
              </a:lnSpc>
              <a:spcBef>
                <a:spcPts val="0"/>
              </a:spcBef>
              <a:spcAft>
                <a:spcPts val="0"/>
              </a:spcAft>
              <a:buClr>
                <a:srgbClr val="005B45"/>
              </a:buClr>
              <a:buSzPct val="80000"/>
              <a:buFont typeface="Arial"/>
              <a:buChar char="■"/>
            </a:pPr>
            <a:r>
              <a:rPr lang="en-GB" sz="2400" b="0" i="0">
                <a:solidFill>
                  <a:srgbClr val="102820"/>
                </a:solidFill>
                <a:latin typeface="GT Ultra Median Lloyds Regular"/>
                <a:ea typeface="GT Ultra Median Lloyds Regular"/>
              </a:rPr>
              <a:t>compensating swaps that leave every count intact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685800" y="35846410"/>
            <a:ext cx="14996160" cy="1580895"/>
          </a:xfrm>
          <a:prstGeom prst="roundRect">
            <a:avLst>
              <a:gd name="adj" fmla="val 1272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960120" y="36047578"/>
            <a:ext cx="14447520" cy="117855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2600" b="1" i="0">
                <a:solidFill>
                  <a:srgbClr val="000000"/>
                </a:solidFill>
                <a:latin typeface="GT Ultra Median Lloyds Regular"/>
                <a:ea typeface="GT Ultra Median Lloyds Regular"/>
              </a:rPr>
              <a:t>F = 0 means consistent with correct, not correct.</a:t>
            </a:r>
          </a:p>
          <a:p>
            <a:pPr algn="l">
              <a:lnSpc>
                <a:spcPts val="28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0" i="0">
                <a:solidFill>
                  <a:srgbClr val="102820"/>
                </a:solidFill>
                <a:latin typeface="GT Ultra Median Lloyds Regular"/>
                <a:ea typeface="GT Ultra Median Lloyds Regular"/>
              </a:rPr>
              <a:t>Submitted file and gold are both balanced and differ on two items, so the errors form a transposition (i, j): G(i) = S(j), G(j) = S(i).</a:t>
            </a:r>
          </a:p>
        </p:txBody>
      </p:sp>
      <p:sp>
        <p:nvSpPr>
          <p:cNvPr id="82" name="Oval 81"/>
          <p:cNvSpPr/>
          <p:nvPr/>
        </p:nvSpPr>
        <p:spPr>
          <a:xfrm>
            <a:off x="17077334" y="8220456"/>
            <a:ext cx="786384" cy="786384"/>
          </a:xfrm>
          <a:prstGeom prst="ellipse">
            <a:avLst/>
          </a:prstGeom>
          <a:solidFill>
            <a:srgbClr val="005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400" b="1" i="0">
                <a:solidFill>
                  <a:srgbClr val="FFFFFF"/>
                </a:solidFill>
                <a:latin typeface="GT Ultra Lloyds Regular"/>
                <a:ea typeface="GT Ultra Lloyds Regular"/>
              </a:rPr>
              <a:t>4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8119750" y="8238744"/>
            <a:ext cx="13953744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4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0" b="1" i="0">
                <a:solidFill>
                  <a:srgbClr val="000000"/>
                </a:solidFill>
                <a:latin typeface="GT Ultra Lloyds Regular"/>
                <a:ea typeface="GT Ultra Lloyds Regular"/>
              </a:rPr>
              <a:t>Cheapest to flip ≠ most likely wrong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7077334" y="9208008"/>
            <a:ext cx="14996160" cy="118871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 b="0" i="0">
                <a:solidFill>
                  <a:srgbClr val="102820"/>
                </a:solidFill>
                <a:latin typeface="GT Ultra Median Lloyds Regular"/>
                <a:ea typeface="GT Ultra Median Lloyds Regular"/>
              </a:rPr>
              <a:t>Enforcing the quota on the Stage 1 posterior (</a:t>
            </a:r>
            <a:r>
              <a:rPr lang="en-GB" sz="2600" b="1" i="0">
                <a:solidFill>
                  <a:srgbClr val="102820"/>
                </a:solidFill>
                <a:latin typeface="GT Ultra Median Lloyds Regular"/>
                <a:ea typeface="GT Ultra Median Lloyds Regular"/>
              </a:rPr>
              <a:t>min-cost assignment</a:t>
            </a:r>
            <a:r>
              <a:rPr lang="en-GB" sz="2600" b="0" i="0">
                <a:solidFill>
                  <a:srgbClr val="102820"/>
                </a:solidFill>
                <a:latin typeface="GT Ultra Median Lloyds Regular"/>
                <a:ea typeface="GT Ultra Median Lloyds Regular"/>
              </a:rPr>
              <a:t>) flips the s items that are cheapest to move. </a:t>
            </a:r>
            <a:r>
              <a:rPr lang="en-GB" sz="2600" b="1" i="0">
                <a:solidFill>
                  <a:srgbClr val="102820"/>
                </a:solidFill>
                <a:latin typeface="GT Ultra Median Lloyds Regular"/>
                <a:ea typeface="GT Ultra Median Lloyds Regular"/>
              </a:rPr>
              <a:t>Forced choice</a:t>
            </a:r>
            <a:r>
              <a:rPr lang="en-GB" sz="2600" b="0" i="0">
                <a:solidFill>
                  <a:srgbClr val="102820"/>
                </a:solidFill>
                <a:latin typeface="GT Ultra Median Lloyds Regular"/>
                <a:ea typeface="GT Ultra Median Lloyds Regular"/>
              </a:rPr>
              <a:t> asks the model a new, comparative question instead: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17077334" y="10625328"/>
            <a:ext cx="14996160" cy="2383790"/>
          </a:xfrm>
          <a:prstGeom prst="roundRect">
            <a:avLst>
              <a:gd name="adj" fmla="val 843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17351654" y="10853928"/>
            <a:ext cx="14447520" cy="192658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64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2200" b="1" i="0">
                <a:solidFill>
                  <a:srgbClr val="005B45"/>
                </a:solidFill>
                <a:latin typeface="GT Ultra Median Lloyds Regular"/>
                <a:ea typeface="GT Ultra Median Lloyds Regular"/>
              </a:rPr>
              <a:t>Stage 3 prompt (template)</a:t>
            </a:r>
          </a:p>
          <a:p>
            <a:pPr algn="l">
              <a:lnSpc>
                <a:spcPts val="312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2500" b="0" i="0">
                <a:solidFill>
                  <a:srgbClr val="000000"/>
                </a:solidFill>
                <a:latin typeface="Courier New"/>
                <a:ea typeface="Courier New"/>
              </a:rPr>
              <a:t>These N items were all labelled +2. Exactly s of them are mislabelled; the true label of those items is 0 or −1. Which?</a:t>
            </a:r>
          </a:p>
          <a:p>
            <a:pPr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b="0" i="0">
                <a:solidFill>
                  <a:srgbClr val="102820"/>
                </a:solidFill>
                <a:latin typeface="GT Ultra Median Lloyds Regular"/>
                <a:ea typeface="GT Ultra Median Lloyds Regular"/>
              </a:rPr>
              <a:t>Five rotated candidate orderings, majority vote. |U| = 1: destination forced by arithmetic; |U| &gt; 1: the model answers item:label.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7351654" y="13941806"/>
            <a:ext cx="2880360" cy="134094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2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 b="1" i="0">
                <a:solidFill>
                  <a:srgbClr val="000000"/>
                </a:solidFill>
                <a:latin typeface="GT Ultra Median Lloyds Regular"/>
                <a:ea typeface="GT Ultra Median Lloyds Regular"/>
              </a:rPr>
              <a:t>+2 bucket</a:t>
            </a:r>
          </a:p>
          <a:p>
            <a:pPr algn="l">
              <a:lnSpc>
                <a:spcPts val="25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b="0" i="0">
                <a:solidFill>
                  <a:srgbClr val="102820"/>
                </a:solidFill>
                <a:latin typeface="GT Ultra Median Lloyds Regular"/>
                <a:ea typeface="GT Ultra Median Lloyds Regular"/>
              </a:rPr>
              <a:t>11 items, s = 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1832214" y="13557758"/>
            <a:ext cx="99669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b="0" i="0">
                <a:solidFill>
                  <a:srgbClr val="102820"/>
                </a:solidFill>
                <a:latin typeface="GT Ultra Median Lloyds Regular"/>
                <a:ea typeface="GT Ultra Median Lloyds Regular"/>
              </a:rPr>
              <a:t>10 correct items, all P ≥ 0.998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20414894" y="13941806"/>
            <a:ext cx="1325880" cy="1340942"/>
          </a:xfrm>
          <a:prstGeom prst="roundRect">
            <a:avLst>
              <a:gd name="adj" fmla="val 8275"/>
            </a:avLst>
          </a:prstGeom>
          <a:solidFill>
            <a:srgbClr val="FFFFFF"/>
          </a:solidFill>
          <a:ln w="57150">
            <a:solidFill>
              <a:srgbClr val="C154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>
            <a:noAutofit/>
          </a:bodyPr>
          <a:lstStyle/>
          <a:p>
            <a:pPr algn="ctr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 i="0">
                <a:solidFill>
                  <a:srgbClr val="000000"/>
                </a:solidFill>
                <a:latin typeface="GT Ultra Median Lloyds Regular"/>
                <a:ea typeface="GT Ultra Median Lloyds Regular"/>
              </a:rPr>
              <a:t>300</a:t>
            </a:r>
          </a:p>
          <a:p>
            <a:pPr algn="ctr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0">
                <a:solidFill>
                  <a:srgbClr val="102820"/>
                </a:solidFill>
                <a:latin typeface="GT Ultra Median Lloyds Regular"/>
                <a:ea typeface="GT Ultra Median Lloyds Regular"/>
              </a:rPr>
              <a:t>.888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21832214" y="13941806"/>
            <a:ext cx="939088" cy="1340942"/>
          </a:xfrm>
          <a:prstGeom prst="roundRect">
            <a:avLst>
              <a:gd name="adj" fmla="val 11684"/>
            </a:avLst>
          </a:prstGeom>
          <a:solidFill>
            <a:srgbClr val="C7FF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Rounded Rectangle 90"/>
          <p:cNvSpPr/>
          <p:nvPr/>
        </p:nvSpPr>
        <p:spPr>
          <a:xfrm>
            <a:off x="22835311" y="13941806"/>
            <a:ext cx="939088" cy="1340942"/>
          </a:xfrm>
          <a:prstGeom prst="roundRect">
            <a:avLst>
              <a:gd name="adj" fmla="val 11684"/>
            </a:avLst>
          </a:prstGeom>
          <a:solidFill>
            <a:srgbClr val="C7FF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Rounded Rectangle 91"/>
          <p:cNvSpPr/>
          <p:nvPr/>
        </p:nvSpPr>
        <p:spPr>
          <a:xfrm>
            <a:off x="23838408" y="13941806"/>
            <a:ext cx="939088" cy="1340942"/>
          </a:xfrm>
          <a:prstGeom prst="roundRect">
            <a:avLst>
              <a:gd name="adj" fmla="val 11684"/>
            </a:avLst>
          </a:prstGeom>
          <a:solidFill>
            <a:srgbClr val="C7FF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Rounded Rectangle 92"/>
          <p:cNvSpPr/>
          <p:nvPr/>
        </p:nvSpPr>
        <p:spPr>
          <a:xfrm>
            <a:off x="24841504" y="13941806"/>
            <a:ext cx="939088" cy="1340942"/>
          </a:xfrm>
          <a:prstGeom prst="roundRect">
            <a:avLst>
              <a:gd name="adj" fmla="val 11684"/>
            </a:avLst>
          </a:prstGeom>
          <a:solidFill>
            <a:srgbClr val="C7FF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Rounded Rectangle 93"/>
          <p:cNvSpPr/>
          <p:nvPr/>
        </p:nvSpPr>
        <p:spPr>
          <a:xfrm>
            <a:off x="25844601" y="13941806"/>
            <a:ext cx="939088" cy="1340942"/>
          </a:xfrm>
          <a:prstGeom prst="roundRect">
            <a:avLst>
              <a:gd name="adj" fmla="val 11684"/>
            </a:avLst>
          </a:prstGeom>
          <a:solidFill>
            <a:srgbClr val="C7FF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Rounded Rectangle 94"/>
          <p:cNvSpPr/>
          <p:nvPr/>
        </p:nvSpPr>
        <p:spPr>
          <a:xfrm>
            <a:off x="26847698" y="13941806"/>
            <a:ext cx="939088" cy="1340942"/>
          </a:xfrm>
          <a:prstGeom prst="roundRect">
            <a:avLst>
              <a:gd name="adj" fmla="val 11684"/>
            </a:avLst>
          </a:prstGeom>
          <a:solidFill>
            <a:srgbClr val="C7FF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Rounded Rectangle 95"/>
          <p:cNvSpPr/>
          <p:nvPr/>
        </p:nvSpPr>
        <p:spPr>
          <a:xfrm>
            <a:off x="27850795" y="13941806"/>
            <a:ext cx="939088" cy="1340942"/>
          </a:xfrm>
          <a:prstGeom prst="roundRect">
            <a:avLst>
              <a:gd name="adj" fmla="val 11684"/>
            </a:avLst>
          </a:prstGeom>
          <a:solidFill>
            <a:srgbClr val="C7FF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Rounded Rectangle 96"/>
          <p:cNvSpPr/>
          <p:nvPr/>
        </p:nvSpPr>
        <p:spPr>
          <a:xfrm>
            <a:off x="28853892" y="13941806"/>
            <a:ext cx="939088" cy="1340942"/>
          </a:xfrm>
          <a:prstGeom prst="roundRect">
            <a:avLst>
              <a:gd name="adj" fmla="val 11684"/>
            </a:avLst>
          </a:prstGeom>
          <a:solidFill>
            <a:srgbClr val="C7FF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Rounded Rectangle 97"/>
          <p:cNvSpPr/>
          <p:nvPr/>
        </p:nvSpPr>
        <p:spPr>
          <a:xfrm>
            <a:off x="29856988" y="13941806"/>
            <a:ext cx="939088" cy="1340942"/>
          </a:xfrm>
          <a:prstGeom prst="roundRect">
            <a:avLst>
              <a:gd name="adj" fmla="val 11684"/>
            </a:avLst>
          </a:prstGeom>
          <a:solidFill>
            <a:srgbClr val="C7FF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Rounded Rectangle 98"/>
          <p:cNvSpPr/>
          <p:nvPr/>
        </p:nvSpPr>
        <p:spPr>
          <a:xfrm>
            <a:off x="30860085" y="13941806"/>
            <a:ext cx="939088" cy="1340942"/>
          </a:xfrm>
          <a:prstGeom prst="roundRect">
            <a:avLst>
              <a:gd name="adj" fmla="val 11684"/>
            </a:avLst>
          </a:prstGeom>
          <a:solidFill>
            <a:srgbClr val="C7FF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20414894" y="15392476"/>
            <a:ext cx="11384280" cy="335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b="1" i="0">
                <a:solidFill>
                  <a:srgbClr val="102820"/>
                </a:solidFill>
                <a:latin typeface="GT Ultra Median Lloyds Regular"/>
                <a:ea typeface="GT Ultra Median Lloyds Regular"/>
              </a:rPr>
              <a:t>Both methods pick 300: </a:t>
            </a:r>
            <a:r>
              <a:rPr lang="en-GB" sz="2200" b="0" i="0">
                <a:solidFill>
                  <a:srgbClr val="102820"/>
                </a:solidFill>
                <a:latin typeface="GT Ultra Median Lloyds Regular"/>
                <a:ea typeface="GT Ultra Median Lloyds Regular"/>
              </a:rPr>
              <a:t>the rest is saturated, so cheapest = wrong.</a:t>
            </a:r>
          </a:p>
        </p:txBody>
      </p:sp>
      <p:cxnSp>
        <p:nvCxnSpPr>
          <p:cNvPr id="101" name="Connector 100"/>
          <p:cNvCxnSpPr/>
          <p:nvPr/>
        </p:nvCxnSpPr>
        <p:spPr>
          <a:xfrm>
            <a:off x="17351654" y="15883204"/>
            <a:ext cx="14447520" cy="0"/>
          </a:xfrm>
          <a:prstGeom prst="line">
            <a:avLst/>
          </a:prstGeom>
          <a:ln w="19050">
            <a:solidFill>
              <a:srgbClr val="DCE8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TextBox 101"/>
          <p:cNvSpPr txBox="1"/>
          <p:nvPr/>
        </p:nvSpPr>
        <p:spPr>
          <a:xfrm>
            <a:off x="17351654" y="16047796"/>
            <a:ext cx="2880360" cy="134094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2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 b="1" i="0">
                <a:solidFill>
                  <a:srgbClr val="000000"/>
                </a:solidFill>
                <a:latin typeface="GT Ultra Median Lloyds Regular"/>
                <a:ea typeface="GT Ultra Median Lloyds Regular"/>
              </a:rPr>
              <a:t>+1 bucket</a:t>
            </a:r>
          </a:p>
          <a:p>
            <a:pPr algn="l">
              <a:lnSpc>
                <a:spcPts val="25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b="0" i="0">
                <a:solidFill>
                  <a:srgbClr val="102820"/>
                </a:solidFill>
                <a:latin typeface="GT Ultra Median Lloyds Regular"/>
                <a:ea typeface="GT Ultra Median Lloyds Regular"/>
              </a:rPr>
              <a:t>12 items, s = 2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20414894" y="16047796"/>
            <a:ext cx="2103120" cy="1340942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57150">
            <a:solidFill>
              <a:srgbClr val="C154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>
            <a:noAutofit/>
          </a:bodyPr>
          <a:lstStyle/>
          <a:p>
            <a:pPr algn="ctr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 i="0">
                <a:solidFill>
                  <a:srgbClr val="000000"/>
                </a:solidFill>
                <a:latin typeface="GT Ultra Median Lloyds Regular"/>
                <a:ea typeface="GT Ultra Median Lloyds Regular"/>
              </a:rPr>
              <a:t>259</a:t>
            </a:r>
          </a:p>
          <a:p>
            <a:pPr algn="ctr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0">
                <a:solidFill>
                  <a:srgbClr val="102820"/>
                </a:solidFill>
                <a:latin typeface="GT Ultra Median Lloyds Regular"/>
                <a:ea typeface="GT Ultra Median Lloyds Regular"/>
              </a:rPr>
              <a:t>P = .506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22609454" y="16047796"/>
            <a:ext cx="2103120" cy="1340942"/>
          </a:xfrm>
          <a:prstGeom prst="roundRect">
            <a:avLst>
              <a:gd name="adj" fmla="val 8182"/>
            </a:avLst>
          </a:prstGeom>
          <a:solidFill>
            <a:srgbClr val="C7FF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>
            <a:noAutofit/>
          </a:bodyPr>
          <a:lstStyle/>
          <a:p>
            <a:pPr algn="ctr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 i="0">
                <a:solidFill>
                  <a:srgbClr val="000000"/>
                </a:solidFill>
                <a:latin typeface="GT Ultra Median Lloyds Regular"/>
                <a:ea typeface="GT Ultra Median Lloyds Regular"/>
              </a:rPr>
              <a:t>288</a:t>
            </a:r>
          </a:p>
          <a:p>
            <a:pPr algn="ctr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0">
                <a:solidFill>
                  <a:srgbClr val="102820"/>
                </a:solidFill>
                <a:latin typeface="GT Ultra Median Lloyds Regular"/>
                <a:ea typeface="GT Ultra Median Lloyds Regular"/>
              </a:rPr>
              <a:t>P = .584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24804014" y="16047796"/>
            <a:ext cx="2103120" cy="1340942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57150">
            <a:solidFill>
              <a:srgbClr val="C154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>
            <a:noAutofit/>
          </a:bodyPr>
          <a:lstStyle/>
          <a:p>
            <a:pPr algn="ctr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 i="0">
                <a:solidFill>
                  <a:srgbClr val="000000"/>
                </a:solidFill>
                <a:latin typeface="GT Ultra Median Lloyds Regular"/>
                <a:ea typeface="GT Ultra Median Lloyds Regular"/>
              </a:rPr>
              <a:t>296</a:t>
            </a:r>
          </a:p>
          <a:p>
            <a:pPr algn="ctr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0">
                <a:solidFill>
                  <a:srgbClr val="102820"/>
                </a:solidFill>
                <a:latin typeface="GT Ultra Median Lloyds Regular"/>
                <a:ea typeface="GT Ultra Median Lloyds Regular"/>
              </a:rPr>
              <a:t>P = .829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26998574" y="16047796"/>
            <a:ext cx="4800600" cy="1340942"/>
          </a:xfrm>
          <a:prstGeom prst="roundRect">
            <a:avLst>
              <a:gd name="adj" fmla="val 8182"/>
            </a:avLst>
          </a:prstGeom>
          <a:solidFill>
            <a:srgbClr val="DC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ts val="24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b="0" i="0">
                <a:solidFill>
                  <a:srgbClr val="102820"/>
                </a:solidFill>
                <a:latin typeface="GT Ultra Median Lloyds Regular"/>
                <a:ea typeface="GT Ultra Median Lloyds Regular"/>
              </a:rPr>
              <a:t>9 more, costlier to flip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7351654" y="17507610"/>
            <a:ext cx="2880360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 i="0">
                <a:solidFill>
                  <a:srgbClr val="000000"/>
                </a:solidFill>
                <a:latin typeface="GT Ultra Median Lloyds Regular"/>
                <a:ea typeface="GT Ultra Median Lloyds Regular"/>
              </a:rPr>
              <a:t>Min-cost</a:t>
            </a:r>
          </a:p>
          <a:p>
            <a:pPr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0">
                <a:solidFill>
                  <a:srgbClr val="102820"/>
                </a:solidFill>
                <a:latin typeface="GT Ultra Median Lloyds Regular"/>
                <a:ea typeface="GT Ultra Median Lloyds Regular"/>
              </a:rPr>
              <a:t>2 cheapest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20506334" y="17553330"/>
            <a:ext cx="1920239" cy="566928"/>
          </a:xfrm>
          <a:prstGeom prst="roundRect">
            <a:avLst>
              <a:gd name="adj" fmla="val 50000"/>
            </a:avLst>
          </a:prstGeom>
          <a:solidFill>
            <a:srgbClr val="008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ts val="23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b="1" i="0">
                <a:solidFill>
                  <a:srgbClr val="FFFFFF"/>
                </a:solidFill>
                <a:latin typeface="GT Ultra Median Lloyds Regular"/>
                <a:ea typeface="GT Ultra Median Lloyds Regular"/>
              </a:rPr>
              <a:t>fixed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22700894" y="17553330"/>
            <a:ext cx="1920239" cy="566928"/>
          </a:xfrm>
          <a:prstGeom prst="roundRect">
            <a:avLst>
              <a:gd name="adj" fmla="val 50000"/>
            </a:avLst>
          </a:prstGeom>
          <a:solidFill>
            <a:srgbClr val="C15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ts val="23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b="1" i="0">
                <a:solidFill>
                  <a:srgbClr val="FFFFFF"/>
                </a:solidFill>
                <a:latin typeface="GT Ultra Median Lloyds Regular"/>
                <a:ea typeface="GT Ultra Median Lloyds Regular"/>
              </a:rPr>
              <a:t>broken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24895454" y="17553330"/>
            <a:ext cx="1920239" cy="5669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C154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ts val="23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b="1" i="0">
                <a:solidFill>
                  <a:srgbClr val="9B3A18"/>
                </a:solidFill>
                <a:latin typeface="GT Ultra Median Lloyds Regular"/>
                <a:ea typeface="GT Ultra Median Lloyds Regular"/>
              </a:rPr>
              <a:t>missed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7351654" y="18202554"/>
            <a:ext cx="2880360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 i="0">
                <a:solidFill>
                  <a:srgbClr val="000000"/>
                </a:solidFill>
                <a:latin typeface="GT Ultra Median Lloyds Regular"/>
                <a:ea typeface="GT Ultra Median Lloyds Regular"/>
              </a:rPr>
              <a:t>Forced choice</a:t>
            </a:r>
          </a:p>
          <a:p>
            <a:pPr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0">
                <a:solidFill>
                  <a:srgbClr val="102820"/>
                </a:solidFill>
                <a:latin typeface="GT Ultra Median Lloyds Regular"/>
                <a:ea typeface="GT Ultra Median Lloyds Regular"/>
              </a:rPr>
              <a:t>votes of 5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20506334" y="18248274"/>
            <a:ext cx="1920239" cy="566928"/>
          </a:xfrm>
          <a:prstGeom prst="roundRect">
            <a:avLst>
              <a:gd name="adj" fmla="val 50000"/>
            </a:avLst>
          </a:prstGeom>
          <a:solidFill>
            <a:srgbClr val="008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ts val="23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b="1" i="0">
                <a:solidFill>
                  <a:srgbClr val="FFFFFF"/>
                </a:solidFill>
                <a:latin typeface="GT Ultra Median Lloyds Regular"/>
                <a:ea typeface="GT Ultra Median Lloyds Regular"/>
              </a:rPr>
              <a:t>3/5 fixed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22700894" y="18248274"/>
            <a:ext cx="1920239" cy="566928"/>
          </a:xfrm>
          <a:prstGeom prst="roundRect">
            <a:avLst>
              <a:gd name="adj" fmla="val 50000"/>
            </a:avLst>
          </a:prstGeom>
          <a:solidFill>
            <a:srgbClr val="DC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ts val="23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b="1" i="0">
                <a:solidFill>
                  <a:srgbClr val="102820"/>
                </a:solidFill>
                <a:latin typeface="GT Ultra Median Lloyds Regular"/>
                <a:ea typeface="GT Ultra Median Lloyds Regular"/>
              </a:rPr>
              <a:t>1/5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24895454" y="18248274"/>
            <a:ext cx="1920239" cy="566928"/>
          </a:xfrm>
          <a:prstGeom prst="roundRect">
            <a:avLst>
              <a:gd name="adj" fmla="val 50000"/>
            </a:avLst>
          </a:prstGeom>
          <a:solidFill>
            <a:srgbClr val="008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ts val="23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b="1" i="0">
                <a:solidFill>
                  <a:srgbClr val="FFFFFF"/>
                </a:solidFill>
                <a:latin typeface="GT Ultra Median Lloyds Regular"/>
                <a:ea typeface="GT Ultra Median Lloyds Regular"/>
              </a:rPr>
              <a:t>5/5 fixed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26998574" y="17553330"/>
            <a:ext cx="4800600" cy="12618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b="1" i="0">
                <a:solidFill>
                  <a:srgbClr val="000000"/>
                </a:solidFill>
                <a:latin typeface="GT Ultra Median Lloyds Regular"/>
                <a:ea typeface="GT Ultra Median Lloyds Regular"/>
              </a:rPr>
              <a:t>Min-cost breaks a correct item and never reaches 296; forced choice names both errors.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20414894" y="18988938"/>
            <a:ext cx="1138428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1">
                <a:solidFill>
                  <a:srgbClr val="102820"/>
                </a:solidFill>
                <a:latin typeface="GT Ultra Median Lloyds Regular"/>
                <a:ea typeface="GT Ultra Median Lloyds Regular"/>
              </a:rPr>
              <a:t>← cheaper to flip under the Stage 1 posterior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7077334" y="19784466"/>
            <a:ext cx="14996160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b="0" i="0">
                <a:solidFill>
                  <a:srgbClr val="102820"/>
                </a:solidFill>
                <a:latin typeface="GT Ultra Median Lloyds Regular"/>
                <a:ea typeface="GT Ultra Median Lloyds Regular"/>
              </a:rPr>
              <a:t>Released Stage 1 rerun (F = 3). Tiles show the Stage 1 posterior P(ŷ | x); red outline = wrong at Stage 1 per the author’s post-hoc annotation. Destinations were voted unanimously (300 → 0; 259, 296 → −1) and exactly fill the two deficits.</a:t>
            </a:r>
          </a:p>
        </p:txBody>
      </p:sp>
      <p:sp>
        <p:nvSpPr>
          <p:cNvPr id="120" name="Oval 119"/>
          <p:cNvSpPr/>
          <p:nvPr/>
        </p:nvSpPr>
        <p:spPr>
          <a:xfrm>
            <a:off x="17077334" y="21686418"/>
            <a:ext cx="786384" cy="786384"/>
          </a:xfrm>
          <a:prstGeom prst="ellipse">
            <a:avLst/>
          </a:prstGeom>
          <a:solidFill>
            <a:srgbClr val="005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400" b="1" i="0">
                <a:solidFill>
                  <a:srgbClr val="FFFFFF"/>
                </a:solidFill>
                <a:latin typeface="GT Ultra Lloyds Regular"/>
                <a:ea typeface="GT Ultra Lloyds Regular"/>
              </a:rPr>
              <a:t>5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8119750" y="21704706"/>
            <a:ext cx="13953744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4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0" b="1" i="0">
                <a:solidFill>
                  <a:srgbClr val="000000"/>
                </a:solidFill>
                <a:latin typeface="GT Ultra Lloyds Regular"/>
                <a:ea typeface="GT Ultra Lloyds Regular"/>
              </a:rPr>
              <a:t>Results and ablation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7077334" y="22673970"/>
            <a:ext cx="14996160" cy="792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 b="1" i="0">
                <a:solidFill>
                  <a:srgbClr val="000000"/>
                </a:solidFill>
                <a:latin typeface="GT Ultra Median Lloyds Regular"/>
                <a:ea typeface="GT Ultra Median Lloyds Regular"/>
              </a:rPr>
              <a:t>Official: </a:t>
            </a:r>
            <a:r>
              <a:rPr lang="en-GB" sz="2600" b="0" i="0">
                <a:solidFill>
                  <a:srgbClr val="102820"/>
                </a:solidFill>
                <a:latin typeface="GT Ultra Median Lloyds Regular"/>
                <a:ea typeface="GT Ultra Median Lloyds Regular"/>
              </a:rPr>
              <a:t>15/15 public + 33/35 private = 48/50; 4th of 10, tied with two. The leaders are one item ahead, and nobody reached 35/35.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7351654" y="23923650"/>
            <a:ext cx="6583680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27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 b="1" i="0">
                <a:solidFill>
                  <a:srgbClr val="000000"/>
                </a:solidFill>
                <a:latin typeface="GT Ultra Median Lloyds Regular"/>
                <a:ea typeface="GT Ultra Median Lloyds Regular"/>
              </a:rPr>
              <a:t>Pipeline (test split)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24026774" y="23923650"/>
            <a:ext cx="1143000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27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 b="1" i="0">
                <a:solidFill>
                  <a:srgbClr val="000000"/>
                </a:solidFill>
                <a:latin typeface="GT Ultra Median Lloyds Regular"/>
                <a:ea typeface="GT Ultra Median Lloyds Regular"/>
              </a:rPr>
              <a:t>F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25261214" y="23923650"/>
            <a:ext cx="1645919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27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 b="1" i="0">
                <a:solidFill>
                  <a:srgbClr val="000000"/>
                </a:solidFill>
                <a:latin typeface="GT Ultra Median Lloyds Regular"/>
                <a:ea typeface="GT Ultra Median Lloyds Regular"/>
              </a:rPr>
              <a:t>Agr.*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26998574" y="23923650"/>
            <a:ext cx="2011679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27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 b="1" i="0">
                <a:solidFill>
                  <a:srgbClr val="000000"/>
                </a:solidFill>
                <a:latin typeface="GT Ultra Median Lloyds Regular"/>
                <a:ea typeface="GT Ultra Median Lloyds Regular"/>
              </a:rPr>
              <a:t>Public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29101694" y="23923650"/>
            <a:ext cx="2011679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27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 b="1" i="0">
                <a:solidFill>
                  <a:srgbClr val="000000"/>
                </a:solidFill>
                <a:latin typeface="GT Ultra Median Lloyds Regular"/>
                <a:ea typeface="GT Ultra Median Lloyds Regular"/>
              </a:rPr>
              <a:t>Private</a:t>
            </a:r>
          </a:p>
        </p:txBody>
      </p:sp>
      <p:cxnSp>
        <p:nvCxnSpPr>
          <p:cNvPr id="128" name="Connector 127"/>
          <p:cNvCxnSpPr/>
          <p:nvPr/>
        </p:nvCxnSpPr>
        <p:spPr>
          <a:xfrm>
            <a:off x="17351654" y="24463146"/>
            <a:ext cx="13853160" cy="0"/>
          </a:xfrm>
          <a:prstGeom prst="line">
            <a:avLst/>
          </a:prstGeom>
          <a:ln w="31750">
            <a:solidFill>
              <a:srgbClr val="005B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" name="TextBox 128"/>
          <p:cNvSpPr txBox="1"/>
          <p:nvPr/>
        </p:nvSpPr>
        <p:spPr>
          <a:xfrm>
            <a:off x="17351654" y="24527154"/>
            <a:ext cx="6583680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27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 b="0" i="0">
                <a:solidFill>
                  <a:srgbClr val="000000"/>
                </a:solidFill>
                <a:latin typeface="GT Ultra Median Lloyds Regular"/>
                <a:ea typeface="GT Ultra Median Lloyds Regular"/>
              </a:rPr>
              <a:t>Stage 1 — uploaded run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24026774" y="24527154"/>
            <a:ext cx="1143000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27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 b="0" i="0">
                <a:solidFill>
                  <a:srgbClr val="000000"/>
                </a:solidFill>
                <a:latin typeface="GT Ultra Median Lloyds Regular"/>
                <a:ea typeface="GT Ultra Median Lloyds Regular"/>
              </a:rPr>
              <a:t>1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25261214" y="24527154"/>
            <a:ext cx="1645919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27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 b="0" i="0">
                <a:solidFill>
                  <a:srgbClr val="000000"/>
                </a:solidFill>
                <a:latin typeface="GT Ultra Median Lloyds Regular"/>
                <a:ea typeface="GT Ultra Median Lloyds Regular"/>
              </a:rPr>
              <a:t>49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26998574" y="24527154"/>
            <a:ext cx="2011679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27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 b="0" i="0">
                <a:solidFill>
                  <a:srgbClr val="000000"/>
                </a:solidFill>
                <a:latin typeface="GT Ultra Median Lloyds Regular"/>
                <a:ea typeface="GT Ultra Median Lloyds Regular"/>
              </a:rPr>
              <a:t>14/15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29101694" y="24527154"/>
            <a:ext cx="2011679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27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 b="0" i="0">
                <a:solidFill>
                  <a:srgbClr val="000000"/>
                </a:solidFill>
                <a:latin typeface="GT Ultra Median Lloyds Regular"/>
                <a:ea typeface="GT Ultra Median Lloyds Regular"/>
              </a:rPr>
              <a:t>—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7351654" y="25039218"/>
            <a:ext cx="6583680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27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 b="0" i="0">
                <a:solidFill>
                  <a:srgbClr val="000000"/>
                </a:solidFill>
                <a:latin typeface="GT Ultra Median Lloyds Regular"/>
                <a:ea typeface="GT Ultra Median Lloyds Regular"/>
              </a:rPr>
              <a:t>Stage 1 — released rerun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4026774" y="25039218"/>
            <a:ext cx="1143000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27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 b="0" i="0">
                <a:solidFill>
                  <a:srgbClr val="000000"/>
                </a:solidFill>
                <a:latin typeface="GT Ultra Median Lloyds Regular"/>
                <a:ea typeface="GT Ultra Median Lloyds Regular"/>
              </a:rPr>
              <a:t>3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5261214" y="25039218"/>
            <a:ext cx="1645919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27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 b="0" i="0">
                <a:solidFill>
                  <a:srgbClr val="000000"/>
                </a:solidFill>
                <a:latin typeface="GT Ultra Median Lloyds Regular"/>
                <a:ea typeface="GT Ultra Median Lloyds Regular"/>
              </a:rPr>
              <a:t>47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26998574" y="25039218"/>
            <a:ext cx="2011679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27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 b="0" i="0">
                <a:solidFill>
                  <a:srgbClr val="000000"/>
                </a:solidFill>
                <a:latin typeface="GT Ultra Median Lloyds Regular"/>
                <a:ea typeface="GT Ultra Median Lloyds Regular"/>
              </a:rPr>
              <a:t>—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29101694" y="25039218"/>
            <a:ext cx="2011679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27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 b="0" i="0">
                <a:solidFill>
                  <a:srgbClr val="000000"/>
                </a:solidFill>
                <a:latin typeface="GT Ultra Median Lloyds Regular"/>
                <a:ea typeface="GT Ultra Median Lloyds Regular"/>
              </a:rPr>
              <a:t>—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17241926" y="25569570"/>
            <a:ext cx="14072616" cy="475488"/>
          </a:xfrm>
          <a:prstGeom prst="roundRect">
            <a:avLst>
              <a:gd name="adj" fmla="val 23076"/>
            </a:avLst>
          </a:prstGeom>
          <a:solidFill>
            <a:srgbClr val="6CF4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TextBox 139"/>
          <p:cNvSpPr txBox="1"/>
          <p:nvPr/>
        </p:nvSpPr>
        <p:spPr>
          <a:xfrm>
            <a:off x="17351654" y="25551282"/>
            <a:ext cx="6583680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27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 b="1" i="0">
                <a:solidFill>
                  <a:srgbClr val="000000"/>
                </a:solidFill>
                <a:latin typeface="GT Ultra Median Lloyds Regular"/>
                <a:ea typeface="GT Ultra Median Lloyds Regular"/>
              </a:rPr>
              <a:t>+ Stages 2–3 (from either run)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24026774" y="25551282"/>
            <a:ext cx="1143000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27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 b="1" i="0">
                <a:solidFill>
                  <a:srgbClr val="000000"/>
                </a:solidFill>
                <a:latin typeface="GT Ultra Median Lloyds Regular"/>
                <a:ea typeface="GT Ultra Median Lloyds Regular"/>
              </a:rPr>
              <a:t>0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25261214" y="25551282"/>
            <a:ext cx="1645919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27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 b="1" i="0">
                <a:solidFill>
                  <a:srgbClr val="000000"/>
                </a:solidFill>
                <a:latin typeface="GT Ultra Median Lloyds Regular"/>
                <a:ea typeface="GT Ultra Median Lloyds Regular"/>
              </a:rPr>
              <a:t>50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26998574" y="25551282"/>
            <a:ext cx="2011679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27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 b="1" i="0">
                <a:solidFill>
                  <a:srgbClr val="000000"/>
                </a:solidFill>
                <a:latin typeface="GT Ultra Median Lloyds Regular"/>
                <a:ea typeface="GT Ultra Median Lloyds Regular"/>
              </a:rPr>
              <a:t>15/15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29101694" y="25551282"/>
            <a:ext cx="2011679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27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 b="1" i="0">
                <a:solidFill>
                  <a:srgbClr val="000000"/>
                </a:solidFill>
                <a:latin typeface="GT Ultra Median Lloyds Regular"/>
                <a:ea typeface="GT Ultra Median Lloyds Regular"/>
              </a:rPr>
              <a:t>33/35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17351654" y="26136498"/>
            <a:ext cx="13853160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b="1" i="1">
                <a:solidFill>
                  <a:srgbClr val="005B45"/>
                </a:solidFill>
                <a:latin typeface="GT Ultra Median Lloyds Regular"/>
                <a:ea typeface="GT Ultra Median Lloyds Regular"/>
              </a:rPr>
              <a:t>Alternative uses of the same quota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17351654" y="26575410"/>
            <a:ext cx="6583680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27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 b="0" i="0">
                <a:solidFill>
                  <a:srgbClr val="000000"/>
                </a:solidFill>
                <a:latin typeface="GT Ultra Median Lloyds Regular"/>
                <a:ea typeface="GT Ultra Median Lloyds Regular"/>
              </a:rPr>
              <a:t>Min-cost assignment (rerun)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24026774" y="26575410"/>
            <a:ext cx="1143000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27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 b="0" i="0">
                <a:solidFill>
                  <a:srgbClr val="000000"/>
                </a:solidFill>
                <a:latin typeface="GT Ultra Median Lloyds Regular"/>
                <a:ea typeface="GT Ultra Median Lloyds Regular"/>
              </a:rPr>
              <a:t>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5261214" y="26575410"/>
            <a:ext cx="1645919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27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 b="0" i="0">
                <a:solidFill>
                  <a:srgbClr val="000000"/>
                </a:solidFill>
                <a:latin typeface="GT Ultra Median Lloyds Regular"/>
                <a:ea typeface="GT Ultra Median Lloyds Regular"/>
              </a:rPr>
              <a:t>48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6998574" y="26575410"/>
            <a:ext cx="2011679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27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 b="0" i="0">
                <a:solidFill>
                  <a:srgbClr val="000000"/>
                </a:solidFill>
                <a:latin typeface="GT Ultra Median Lloyds Regular"/>
                <a:ea typeface="GT Ultra Median Lloyds Regular"/>
              </a:rPr>
              <a:t>—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29101694" y="26575410"/>
            <a:ext cx="2011679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27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 b="0" i="0">
                <a:solidFill>
                  <a:srgbClr val="000000"/>
                </a:solidFill>
                <a:latin typeface="GT Ultra Median Lloyds Regular"/>
                <a:ea typeface="GT Ultra Median Lloyds Regular"/>
              </a:rPr>
              <a:t>—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17351654" y="27087474"/>
            <a:ext cx="6583680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27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 b="0" i="0">
                <a:solidFill>
                  <a:srgbClr val="000000"/>
                </a:solidFill>
                <a:latin typeface="GT Ultra Median Lloyds Regular"/>
                <a:ea typeface="GT Ultra Median Lloyds Regular"/>
              </a:rPr>
              <a:t>Ensemble majority (16 runs)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24026774" y="27087474"/>
            <a:ext cx="1143000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27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 b="0" i="0">
                <a:solidFill>
                  <a:srgbClr val="000000"/>
                </a:solidFill>
                <a:latin typeface="GT Ultra Median Lloyds Regular"/>
                <a:ea typeface="GT Ultra Median Lloyds Regular"/>
              </a:rPr>
              <a:t>1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25261214" y="27087474"/>
            <a:ext cx="1645919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27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 b="0" i="0">
                <a:solidFill>
                  <a:srgbClr val="000000"/>
                </a:solidFill>
                <a:latin typeface="GT Ultra Median Lloyds Regular"/>
                <a:ea typeface="GT Ultra Median Lloyds Regular"/>
              </a:rPr>
              <a:t>49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26998574" y="27087474"/>
            <a:ext cx="2011679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27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 b="0" i="0">
                <a:solidFill>
                  <a:srgbClr val="000000"/>
                </a:solidFill>
                <a:latin typeface="GT Ultra Median Lloyds Regular"/>
                <a:ea typeface="GT Ultra Median Lloyds Regular"/>
              </a:rPr>
              <a:t>—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29101694" y="27087474"/>
            <a:ext cx="2011679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27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 b="0" i="0">
                <a:solidFill>
                  <a:srgbClr val="000000"/>
                </a:solidFill>
                <a:latin typeface="GT Ultra Median Lloyds Regular"/>
                <a:ea typeface="GT Ultra Median Lloyds Regular"/>
              </a:rPr>
              <a:t>—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17351654" y="27599538"/>
            <a:ext cx="6583680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27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 b="0" i="0">
                <a:solidFill>
                  <a:srgbClr val="000000"/>
                </a:solidFill>
                <a:latin typeface="GT Ultra Median Lloyds Regular"/>
                <a:ea typeface="GT Ultra Median Lloyds Regular"/>
              </a:rPr>
              <a:t>Consensus-spread ranking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24026774" y="27599538"/>
            <a:ext cx="1143000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27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 b="0" i="0">
                <a:solidFill>
                  <a:srgbClr val="000000"/>
                </a:solidFill>
                <a:latin typeface="GT Ultra Median Lloyds Regular"/>
                <a:ea typeface="GT Ultra Median Lloyds Regular"/>
              </a:rPr>
              <a:t>0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25261214" y="27599538"/>
            <a:ext cx="1645919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27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 b="0" i="0">
                <a:solidFill>
                  <a:srgbClr val="000000"/>
                </a:solidFill>
                <a:latin typeface="GT Ultra Median Lloyds Regular"/>
                <a:ea typeface="GT Ultra Median Lloyds Regular"/>
              </a:rPr>
              <a:t>50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26998574" y="27599538"/>
            <a:ext cx="2011679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27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 b="0" i="0">
                <a:solidFill>
                  <a:srgbClr val="000000"/>
                </a:solidFill>
                <a:latin typeface="GT Ultra Median Lloyds Regular"/>
                <a:ea typeface="GT Ultra Median Lloyds Regular"/>
              </a:rPr>
              <a:t>—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29101694" y="27599538"/>
            <a:ext cx="2011679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27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 b="0" i="0">
                <a:solidFill>
                  <a:srgbClr val="000000"/>
                </a:solidFill>
                <a:latin typeface="GT Ultra Median Lloyds Regular"/>
                <a:ea typeface="GT Ultra Median Lloyds Regular"/>
              </a:rPr>
              <a:t>—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17077334" y="28477362"/>
            <a:ext cx="14996160" cy="2509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64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 b="0" i="0">
                <a:solidFill>
                  <a:srgbClr val="102820"/>
                </a:solidFill>
                <a:latin typeface="GT Ultra Median Lloyds Regular"/>
                <a:ea typeface="GT Ultra Median Lloyds Regular"/>
              </a:rPr>
              <a:t>* Agreement with the author’s single post-hoc annotation: not independent, and it saturates at 50 although the file has two errors. Only two files were ever scored officially; they differ only on item 300.</a:t>
            </a:r>
          </a:p>
          <a:p>
            <a:pPr algn="l">
              <a:lnSpc>
                <a:spcPts val="312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600" b="1" i="0">
                <a:solidFill>
                  <a:srgbClr val="000000"/>
                </a:solidFill>
                <a:latin typeface="GT Ultra Median Lloyds Regular"/>
                <a:ea typeface="GT Ultra Median Lloyds Regular"/>
              </a:rPr>
              <a:t>Open split</a:t>
            </a:r>
            <a:r>
              <a:rPr lang="en-GB" sz="2600" b="0" i="0">
                <a:solidFill>
                  <a:srgbClr val="102820"/>
                </a:solidFill>
                <a:latin typeface="GT Ultra Median Lloyds Regular"/>
                <a:ea typeface="GT Ultra Median Lloyds Regular"/>
              </a:rPr>
              <a:t> (n = 253, gold released): min-cost with the true counts moves 13 labels, 2 fixed, 8 broken, 3 wrong → wrong; accuracy 0.676 → 0.652.</a:t>
            </a:r>
          </a:p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 b="1" i="0">
                <a:solidFill>
                  <a:srgbClr val="000000"/>
                </a:solidFill>
                <a:latin typeface="GT Ultra Median Lloyds Regular"/>
                <a:ea typeface="GT Ultra Median Lloyds Regular"/>
              </a:rPr>
              <a:t>Model choice</a:t>
            </a:r>
            <a:r>
              <a:rPr lang="en-GB" sz="2600" b="0" i="0">
                <a:solidFill>
                  <a:srgbClr val="102820"/>
                </a:solidFill>
                <a:latin typeface="GT Ultra Median Lloyds Regular"/>
                <a:ea typeface="GT Ultra Median Lloyds Regular"/>
              </a:rPr>
              <a:t> (open split): Qwen3.6-35B-A3B was best of eight LLMs, 0.684 accuracy (0.676 with verbaliser scoring), against 0.557 for the best of four non-LLM baselines.</a:t>
            </a:r>
          </a:p>
        </p:txBody>
      </p:sp>
      <p:sp>
        <p:nvSpPr>
          <p:cNvPr id="164" name="Oval 163"/>
          <p:cNvSpPr/>
          <p:nvPr/>
        </p:nvSpPr>
        <p:spPr>
          <a:xfrm>
            <a:off x="17077334" y="31882994"/>
            <a:ext cx="786384" cy="786384"/>
          </a:xfrm>
          <a:prstGeom prst="ellipse">
            <a:avLst/>
          </a:prstGeom>
          <a:solidFill>
            <a:srgbClr val="005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400" b="1" i="0">
                <a:solidFill>
                  <a:srgbClr val="FFFFFF"/>
                </a:solidFill>
                <a:latin typeface="GT Ultra Lloyds Regular"/>
                <a:ea typeface="GT Ultra Lloyds Regular"/>
              </a:rPr>
              <a:t>6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18119750" y="31901282"/>
            <a:ext cx="13953744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4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0" b="1" i="0">
                <a:solidFill>
                  <a:srgbClr val="000000"/>
                </a:solidFill>
                <a:latin typeface="GT Ultra Lloyds Regular"/>
                <a:ea typeface="GT Ultra Lloyds Regular"/>
              </a:rPr>
              <a:t>Beyond shared tasks: approximate quotas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17077334" y="32870546"/>
            <a:ext cx="14996160" cy="792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 b="0" i="0">
                <a:solidFill>
                  <a:srgbClr val="102820"/>
                </a:solidFill>
                <a:latin typeface="GT Ultra Median Lloyds Regular"/>
                <a:ea typeface="GT Ultra Median Lloyds Regular"/>
              </a:rPr>
              <a:t>Real marginals are estimates. With true counts q, published counts q̃ and Δ = ½‖q̃ − q‖</a:t>
            </a:r>
            <a:r>
              <a:rPr lang="en-GB" sz="2600" b="0" i="0" baseline="-25000">
                <a:solidFill>
                  <a:srgbClr val="102820"/>
                </a:solidFill>
                <a:latin typeface="GT Ultra Median Lloyds Regular"/>
                <a:ea typeface="GT Ultra Median Lloyds Regular"/>
              </a:rPr>
              <a:t>1</a:t>
            </a:r>
            <a:r>
              <a:rPr lang="en-GB" sz="2600" b="0" i="0">
                <a:solidFill>
                  <a:srgbClr val="102820"/>
                </a:solidFill>
                <a:latin typeface="GT Ultra Median Lloyds Regular"/>
                <a:ea typeface="GT Ultra Median Lloyds Regular"/>
              </a:rPr>
              <a:t> (the items separating them):</a:t>
            </a:r>
          </a:p>
        </p:txBody>
      </p:sp>
      <p:sp>
        <p:nvSpPr>
          <p:cNvPr id="167" name="Rounded Rectangle 166"/>
          <p:cNvSpPr/>
          <p:nvPr/>
        </p:nvSpPr>
        <p:spPr>
          <a:xfrm>
            <a:off x="17077334" y="33845906"/>
            <a:ext cx="14996160" cy="10058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ts val="4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400" b="0" i="0">
                <a:solidFill>
                  <a:srgbClr val="000000"/>
                </a:solidFill>
                <a:latin typeface="Cambria Math"/>
                <a:ea typeface="Cambria Math"/>
              </a:rPr>
              <a:t>|F(q̃) − F(q)| ≤ Δ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17077334" y="35080346"/>
            <a:ext cx="14996160" cy="2346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384048" indent="-384048" algn="l">
              <a:lnSpc>
                <a:spcPts val="288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ct val="80000"/>
              <a:buFont typeface="Arial"/>
              <a:buChar char="■"/>
            </a:pPr>
            <a:r>
              <a:rPr lang="en-GB" sz="2400" b="0" i="0">
                <a:solidFill>
                  <a:srgbClr val="102820"/>
                </a:solidFill>
                <a:latin typeface="GT Ultra Median Lloyds Regular"/>
                <a:ea typeface="GT Ultra Median Lloyds Regular"/>
              </a:rPr>
              <a:t>F(q̃) − Δ is still a valid certificate, and Stage 3 makes at most Δ moves the true marginal does not license.</a:t>
            </a:r>
          </a:p>
          <a:p>
            <a:pPr marL="384048" indent="-384048" algn="l">
              <a:lnSpc>
                <a:spcPts val="288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ct val="80000"/>
              <a:buFont typeface="Arial"/>
              <a:buChar char="■"/>
            </a:pPr>
            <a:r>
              <a:rPr lang="en-GB" sz="2400" b="0" i="0">
                <a:solidFill>
                  <a:srgbClr val="102820"/>
                </a:solidFill>
                <a:latin typeface="GT Ultra Median Lloyds Regular"/>
                <a:ea typeface="GT Ultra Median Lloyds Regular"/>
              </a:rPr>
              <a:t>Exhaustive check over all 4,395 integer marginals within Δ ≤ 6 of the open-split gold counts: the bound holds, is attained at every Δ (tight), and the median deviation is ⌈Δ/2⌉.</a:t>
            </a:r>
          </a:p>
          <a:p>
            <a:pPr marL="384048" indent="-384048" algn="l">
              <a:lnSpc>
                <a:spcPts val="28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80000"/>
              <a:buFont typeface="Arial"/>
              <a:buChar char="■"/>
            </a:pPr>
            <a:r>
              <a:rPr lang="en-GB" sz="2400" b="0" i="0">
                <a:solidFill>
                  <a:srgbClr val="102820"/>
                </a:solidFill>
                <a:latin typeface="GT Ultra Median Lloyds Regular"/>
                <a:ea typeface="GT Ultra Median Lloyds Regular"/>
              </a:rPr>
              <a:t>The margin is narrow: an audit that opens at F tolerates Δ ≤ F − 1 before its floor reaches zero.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945824-0FA1-6B54-6C23-70E6452E3065}"/>
              </a:ext>
            </a:extLst>
          </p:cNvPr>
          <p:cNvSpPr txBox="1"/>
          <p:nvPr/>
        </p:nvSpPr>
        <p:spPr>
          <a:xfrm>
            <a:off x="582982" y="38351485"/>
            <a:ext cx="11521440" cy="78638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2800" b="1" i="0" dirty="0">
                <a:solidFill>
                  <a:srgbClr val="005B45"/>
                </a:solidFill>
                <a:latin typeface="GT Ultra Lloyds Regular"/>
                <a:ea typeface="GT Ultra Lloyds Regular"/>
              </a:rPr>
              <a:t>TAKEAWAYS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19FF6691-D727-A6E5-B426-1686244BB26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709103" y="40073373"/>
            <a:ext cx="1853317" cy="1853317"/>
          </a:xfrm>
          <a:prstGeom prst="rect">
            <a:avLst/>
          </a:prstGeom>
        </p:spPr>
      </p:pic>
      <p:pic>
        <p:nvPicPr>
          <p:cNvPr id="173" name="Picture 172">
            <a:extLst>
              <a:ext uri="{FF2B5EF4-FFF2-40B4-BE49-F238E27FC236}">
                <a16:creationId xmlns:a16="http://schemas.microsoft.com/office/drawing/2014/main" id="{4B12B9E7-9128-70E2-BB5D-668F7EDE110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334283" y="40073373"/>
            <a:ext cx="1847275" cy="1847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73885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17151eb3-00ab-470c-b25c-644c7691e891}" enabled="1" method="Privileged" siteId="{3ded2960-214a-46ff-8cf4-611f125e2398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8934</TotalTime>
  <Words>1527</Words>
  <Application>Microsoft Macintosh PowerPoint</Application>
  <PresentationFormat>Custom</PresentationFormat>
  <Paragraphs>175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0" baseType="lpstr">
      <vt:lpstr>Hiragino Sans</vt:lpstr>
      <vt:lpstr>Aptos</vt:lpstr>
      <vt:lpstr>Aptos Display</vt:lpstr>
      <vt:lpstr>Arial</vt:lpstr>
      <vt:lpstr>Cambria Math</vt:lpstr>
      <vt:lpstr>Courier New</vt:lpstr>
      <vt:lpstr>GT Ultra Lloyds Regular</vt:lpstr>
      <vt:lpstr>GT Ultra Median Lloyds Regular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Morita, Kyosuke (Chief Data &amp; Analytics Office)</dc:creator>
  <cp:lastModifiedBy>Morita, Kyosuke (Chief Data &amp; AI Office)</cp:lastModifiedBy>
  <cp:revision>2</cp:revision>
  <dcterms:created xsi:type="dcterms:W3CDTF">2026-06-22T20:31:53Z</dcterms:created>
  <dcterms:modified xsi:type="dcterms:W3CDTF">2026-10-13T21:27:57Z</dcterms:modified>
</cp:coreProperties>
</file>